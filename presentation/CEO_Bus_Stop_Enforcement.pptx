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Blocked-layby cases by location (07:00–10:00, single day)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Cases per stop (3h)</c:v>
                </c:pt>
              </c:strCache>
            </c:strRef>
          </c:tx>
          <c:spPr>
            <a:solidFill>
              <a:srgbClr val="3C4A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A647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Business Bay</c:v>
                  </c:pt>
                  <c:pt idx="1">
                    <c:v>Sharaf DG Metro</c:v>
                  </c:pt>
                  <c:pt idx="2">
                    <c:v>Burjuman</c:v>
                  </c:pt>
                  <c:pt idx="3">
                    <c:v>Al Jafliya</c:v>
                  </c:pt>
                  <c:pt idx="4">
                    <c:v>Naif Int.</c:v>
                  </c:pt>
                  <c:pt idx="5">
                    <c:v>Burj Nahar</c:v>
                  </c:pt>
                  <c:pt idx="6">
                    <c:v>Al Hana</c:v>
                  </c:pt>
                  <c:pt idx="7">
                    <c:v>Al Rigga</c:v>
                  </c:pt>
                  <c:pt idx="8">
                    <c:v>Salah Al Din</c:v>
                  </c:pt>
                  <c:pt idx="9">
                    <c:v>Emirates Twr</c:v>
                  </c:pt>
                  <c:pt idx="10">
                    <c:v>Al Khail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4</c:v>
                </c:pt>
                <c:pt idx="9">
                  <c:v>3</c:v>
                </c:pt>
                <c:pt idx="10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A647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Extra late trips per year by tier (60 s per obstruction)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Extra late trips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A647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High tier</c:v>
                  </c:pt>
                  <c:pt idx="1">
                    <c:v>Medium tier</c:v>
                  </c:pt>
                  <c:pt idx="2">
                    <c:v>Low tier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11500</c:v>
                </c:pt>
                <c:pt idx="1">
                  <c:v>8500</c:v>
                </c:pt>
                <c:pt idx="2">
                  <c:v>1880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A647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Revenue declines 25%/yr — because deterrence is working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fine revenue (AED M)</c:v>
                </c:pt>
              </c:strCache>
            </c:strRef>
          </c:tx>
          <c:spPr>
            <a:solidFill>
              <a:srgbClr val="1E8E5A"/>
            </a:solidFill>
            <a:ln w="38100" cap="flat">
              <a:solidFill>
                <a:srgbClr val="1E8E5A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8E5A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E8E5A"/>
              </a:solidFill>
              <a:ln w="9525" cap="flat">
                <a:solidFill>
                  <a:srgbClr val="1E8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46.5</c:v>
                </c:pt>
                <c:pt idx="1">
                  <c:v>34.8</c:v>
                </c:pt>
                <c:pt idx="2">
                  <c:v>26.1</c:v>
                </c:pt>
                <c:pt idx="3">
                  <c:v>19.6</c:v>
                </c:pt>
                <c:pt idx="4">
                  <c:v>14.7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E8E5A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5-year NPV by tier (AED 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5-yr NPV (AED M)</c:v>
                </c:pt>
              </c:strCache>
            </c:strRef>
          </c:tx>
          <c:spPr>
            <a:solidFill>
              <a:srgbClr val="1E8E5A">
                <a:alpha val="9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A647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8E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E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High</c:v>
                  </c:pt>
                  <c:pt idx="1">
                    <c:v>Medium</c:v>
                  </c:pt>
                  <c:pt idx="2">
                    <c:v>Low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56.6</c:v>
                </c:pt>
                <c:pt idx="1">
                  <c:v>22.6</c:v>
                </c:pt>
                <c:pt idx="2">
                  <c:v>-13.8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A647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5-yr NPV by fleet size, monthly rotation at High-tier stops (AED 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5-yr NPV (AED M)</c:v>
                </c:pt>
              </c:strCache>
            </c:strRef>
          </c:tx>
          <c:spPr>
            <a:solidFill>
              <a:srgbClr val="1E8E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A647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 units</c:v>
                  </c:pt>
                  <c:pt idx="1">
                    <c:v>30 units</c:v>
                  </c:pt>
                  <c:pt idx="2">
                    <c:v>40 units</c:v>
                  </c:pt>
                  <c:pt idx="3">
                    <c:v>50 units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8.3</c:v>
                </c:pt>
                <c:pt idx="1">
                  <c:v>12.5</c:v>
                </c:pt>
                <c:pt idx="2">
                  <c:v>16.6</c:v>
                </c:pt>
                <c:pt idx="3">
                  <c:v>20.8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A647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Reclaiming the Bus Stop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Illegal parking in bus laybys: the cost to On-Time Performance, a critical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passenger-safety exposure — and a self-funding enforcement programme to fix both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Transport Agency  ·  Bus Performance Study  ·  July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24160" y="822960"/>
            <a:ext cx="914400" cy="9144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0" y="804672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72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346,000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arrivals obstructed by illegally parked vehicles every year — at 912 stops carrying 76% of peak arrivals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132588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/>
        </p:spPr>
      </p:sp>
      <p:sp>
        <p:nvSpPr>
          <p:cNvPr id="8" name="Text 6"/>
          <p:cNvSpPr/>
          <p:nvPr/>
        </p:nvSpPr>
        <p:spPr>
          <a:xfrm>
            <a:off x="4343400" y="1472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−0.85 pp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80560" y="22402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On-Time Performance lost network-wide (60 s per obstruction scenario)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1472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2,900 h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183880" y="22402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direct bus delay per year — measured from AVL data and an 11-stop field survey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 PAYS FOR ITSELF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95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46M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77240" y="4297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year-1 fine revenue from camera enforcement (AED 200/violation, 56% ticket-to-cash)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43400" y="338328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/>
        </p:spPr>
      </p:sp>
      <p:sp>
        <p:nvSpPr>
          <p:cNvPr id="18" name="Text 16"/>
          <p:cNvSpPr/>
          <p:nvPr/>
        </p:nvSpPr>
        <p:spPr>
          <a:xfrm>
            <a:off x="4343400" y="35295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+87M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480560" y="4297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5-yr NPV @7% — hybrid: fixed cameras at 512 stops + 20 portable units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338328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35295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year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183880" y="4297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on every element deployed; revenue declines only because deterrence works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5166360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/>
        </p:spPr>
      </p:sp>
      <p:pic>
        <p:nvPicPr>
          <p:cNvPr id="24" name="Image 0" descr="/tmp/claude-0/-home-user-gtfslatest/ee99cc7d-ecc7-5ace-9c26-ca6b03a1dfd7/scratchpad/fiel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5330952"/>
            <a:ext cx="585216" cy="1042416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691640" y="534924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SAFETY ISSUE — </a:t>
            </a:r>
            <a:pPr indent="0" marL="0">
              <a:buNone/>
            </a:pPr>
            <a:r>
              <a:rPr lang="en-US" sz="1350" dirty="0">
                <a:solidFill>
                  <a:srgbClr val="FFE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layby is blocked, passengers board and alight in the live traffic lane (field photo). Every one of the ~346,000 obstructed arrivals is a potential live-lane boarding. This is the risk that cannot wait for a business case.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374904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SAFETY ISSUE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Passengers step off into moving traffic</a:t>
            </a:r>
            <a:endParaRPr lang="en-US" sz="3400" dirty="0"/>
          </a:p>
        </p:txBody>
      </p:sp>
      <p:pic>
        <p:nvPicPr>
          <p:cNvPr id="5" name="Image 0" descr="/tmp/claude-0/-home-user-gtfslatest/ee99cc7d-ecc7-5ace-9c26-ca6b03a1dfd7/scratchpad/fiel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502920"/>
            <a:ext cx="2743200" cy="4873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23960" y="5440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photo, 28 Jul 2026 — layby blocked by a private car; the bus serves the stop from the carriageway and the passenger alights on the road, not the kerb.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27228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25880" y="224028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B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346,000 / year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25880" y="262432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obstructed arrivals — each one a potential boarding or alighting in the live lane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31520" y="3319272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30555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325880" y="327355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vulnerable pay first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25880" y="36576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elderly passengers, wheelchair users, parents with children — level kerb access is exactly what the layby exists to provide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" y="4352544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" y="433882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25880" y="4306824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Zero-distance near-misses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325880" y="46908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door opens into the same lane cars use to overtake the stopped bus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31520" y="5385816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53721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325880" y="534009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liability the Agency carries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325880" y="5724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peer city (NYC, London, Singapore) criminalised bus-stop parking on safety grounds before revenue grounds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Documented daily, across the network</a:t>
            </a:r>
            <a:endParaRPr lang="en-US" sz="3200" dirty="0"/>
          </a:p>
        </p:txBody>
      </p:sp>
      <p:pic>
        <p:nvPicPr>
          <p:cNvPr id="3" name="Image 0" descr="/tmp/claude-0/-home-user-gtfslatest/ee99cc7d-ecc7-5ace-9c26-ca6b03a1dfd7/scratchpad/ph_lexus_b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2788920" cy="3721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0292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car holds the layby — the bus loads in the traffic lane beside it</a:t>
            </a:r>
            <a:endParaRPr lang="en-US" sz="1100" dirty="0"/>
          </a:p>
        </p:txBody>
      </p:sp>
      <p:pic>
        <p:nvPicPr>
          <p:cNvPr id="5" name="Image 1" descr="/tmp/claude-0/-home-user-gtfslatest/ee99cc7d-ecc7-5ace-9c26-ca6b03a1dfd7/scratchpad/ph_taxi_sig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234440"/>
            <a:ext cx="2788920" cy="3721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11880" y="50292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 and van parked hard against the marked, signed bus stop (route F16)</a:t>
            </a:r>
            <a:endParaRPr lang="en-US" sz="1100" dirty="0"/>
          </a:p>
        </p:txBody>
      </p:sp>
      <p:pic>
        <p:nvPicPr>
          <p:cNvPr id="7" name="Image 2" descr="/tmp/claude-0/-home-user-gtfslatest/ee99cc7d-ecc7-5ace-9c26-ca6b03a1dfd7/scratchpad/ph_bus_lan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234440"/>
            <a:ext cx="2788920" cy="372160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583680" y="50292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Vans occupy the stop — the Al Quoz New Housing bus is forced to serve from the lane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9646920" y="1234440"/>
            <a:ext cx="1920240" cy="3721608"/>
          </a:xfrm>
          <a:prstGeom prst="roundRect">
            <a:avLst>
              <a:gd name="adj" fmla="val 4286"/>
            </a:avLst>
          </a:prstGeom>
          <a:solidFill>
            <a:srgbClr val="1E2761"/>
          </a:solidFill>
          <a:ln/>
        </p:spPr>
      </p:sp>
      <p:sp>
        <p:nvSpPr>
          <p:cNvPr id="10" name="Text 5"/>
          <p:cNvSpPr/>
          <p:nvPr/>
        </p:nvSpPr>
        <p:spPr>
          <a:xfrm>
            <a:off x="9802368" y="1463040"/>
            <a:ext cx="1609344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blocks the stops
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Taxis &amp; limousines
labour/shuttle vans
private cars
</a:t>
            </a:r>
            <a:pPr indent="0" marL="0">
              <a:buNone/>
            </a:pPr>
            <a:r>
              <a:rPr lang="en-US" sz="2200" b="1" dirty="0">
                <a:solidFill>
                  <a:srgbClr val="FF9B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cases
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3-hour morning at just 11 stops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9646920" y="50292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photos: PTA field observations, Jul 2026.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evidence: one morning, 11 stops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blocked-layby cases in 3 hours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(07:00–10:00, one day)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3520440" y="14630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21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52044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AM-peak bus arrivals met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obstructed layby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87.2%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OTP that day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(38 routes, 72,679 stop events)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0" y="14630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78.7%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914400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at Sharaf DG Metro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stop, most blockages (8)</a:t>
            </a:r>
            <a:endParaRPr lang="en-US" sz="12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" y="3291840"/>
          <a:ext cx="7863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8778240" y="3566160"/>
            <a:ext cx="2834640" cy="2468880"/>
          </a:xfrm>
          <a:prstGeom prst="roundRect">
            <a:avLst>
              <a:gd name="adj" fmla="val 2963"/>
            </a:avLst>
          </a:prstGeom>
          <a:solidFill>
            <a:srgbClr val="F4F7FC"/>
          </a:solidFill>
          <a:ln/>
        </p:spPr>
      </p:sp>
      <p:sp>
        <p:nvSpPr>
          <p:cNvPr id="13" name="Text 10"/>
          <p:cNvSpPr/>
          <p:nvPr/>
        </p:nvSpPr>
        <p:spPr>
          <a:xfrm>
            <a:off x="9006840" y="379476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
</a:t>
            </a:r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AVL data (22 Jul 2026) confirms these stops carry 1,254 bus arrivals in the AM peak alone — and that late running already concentrates in peak hours.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Network-wide: 912 stops carry the risk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stop in the GTFS network was scored on the surveyed hotspot profile: peak bus throughput plus metro-station or mall adjacency.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772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3657600"/>
                <a:gridCol w="1188720"/>
                <a:gridCol w="1097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peak arrivals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blockages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Matches surveyed profile (metro/mall + heavy throughput) — survey-calibrated rate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182,000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400 by peak throughput — 50% of survey rate (assumption)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Following 400 — 25% of survey rate (assumption)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in 10 network stops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346,000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823960" y="19202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823960" y="28529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peak bus arrivals happen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these 912 stops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823960" y="36576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823960" y="459028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violations per stop per day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High-tier stops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non-surveyed exposures: Ibn Battuta, Union Metro, Mall of the Emirates, Gold Souq, Dubai Mall Metro.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costs the network every year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346,000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arrivals obstructed per year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(912 stops, both peaks)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343400" y="146304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2,900 h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343400" y="23957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direct bus delay per year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(at 30 s per obstruction)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0" y="146304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−0.85 pp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046720" y="23957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OTP lost network-wide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(30–60 s scenarios: −0.35 to −0.85)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3383280"/>
          <a:ext cx="5852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858000" y="3566160"/>
            <a:ext cx="4754880" cy="2377440"/>
          </a:xfrm>
          <a:prstGeom prst="roundRect">
            <a:avLst>
              <a:gd name="adj" fmla="val 3077"/>
            </a:avLst>
          </a:prstGeom>
          <a:solidFill>
            <a:srgbClr val="F4F7FC"/>
          </a:solidFill>
          <a:ln/>
        </p:spPr>
      </p:sp>
      <p:sp>
        <p:nvSpPr>
          <p:cNvPr id="11" name="Text 8"/>
          <p:cNvSpPr/>
          <p:nvPr/>
        </p:nvSpPr>
        <p:spPr>
          <a:xfrm>
            <a:off x="7086600" y="3767328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small delays matter
</a:t>
            </a:r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counts a trip late beyond +5 minutes. The damage lands on trips already 4–5 minutes behind — 12.7% of peak stop events. A 30-second obstruction tips 1 in 38 of the trips it touches over the line; at 60 seconds, 1 in 16.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Enforcement pays: the violation-to-cash funnel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91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415,000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detectable violations / yr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" y="26700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watch 24/7 — off-peak adds 20%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004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472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93008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/>
        </p:spPr>
      </p:sp>
      <p:sp>
        <p:nvSpPr>
          <p:cNvPr id="9" name="Text 7"/>
          <p:cNvSpPr/>
          <p:nvPr/>
        </p:nvSpPr>
        <p:spPr>
          <a:xfrm>
            <a:off x="3493008" y="1691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4A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290,000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630168" y="2286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tickets (70%)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30168" y="26700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readable, stationary, de-duplicated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053328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472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345936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6345936" y="1691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232,000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83096" y="2286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collected (80%)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83096" y="26700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AED 200 per violation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906256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472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198864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98864" y="1691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46M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336024" y="2286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revenue, year 1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336024" y="26700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declining by design as deterrence works</a:t>
            </a:r>
            <a:endParaRPr lang="en-US" sz="10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40080" y="3749040"/>
          <a:ext cx="6766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7772400" y="397764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</p:sp>
      <p:sp>
        <p:nvSpPr>
          <p:cNvPr id="24" name="Text 21"/>
          <p:cNvSpPr/>
          <p:nvPr/>
        </p:nvSpPr>
        <p:spPr>
          <a:xfrm>
            <a:off x="8001000" y="420624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pitch
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finance the system in years 1–3. The permanent return is OTP recovery and the end of live-lane boarding.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— fixed cameras: invest where density pays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371600"/>
                <a:gridCol w="1371600"/>
                <a:gridCol w="10058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yr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5-yr NPV @7%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— 112 stops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4.5M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24.4M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8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+56.6M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 year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— 400 stops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16.0M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18.0M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8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+22.6M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 year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— 400 stops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16.0M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4.0M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−13.8M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640080" y="3840480"/>
          <a:ext cx="694944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7955280" y="1417320"/>
            <a:ext cx="3657600" cy="4983480"/>
          </a:xfrm>
          <a:prstGeom prst="roundRect">
            <a:avLst>
              <a:gd name="adj" fmla="val 2000"/>
            </a:avLst>
          </a:prstGeom>
          <a:solidFill>
            <a:srgbClr val="F4F7FC"/>
          </a:solidFill>
          <a:ln/>
        </p:spPr>
      </p:sp>
      <p:sp>
        <p:nvSpPr>
          <p:cNvPr id="6" name="Text 2"/>
          <p:cNvSpPr/>
          <p:nvPr/>
        </p:nvSpPr>
        <p:spPr>
          <a:xfrm>
            <a:off x="8183880" y="1645920"/>
            <a:ext cx="3200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
</a:t>
            </a:r>
            <a:pPr indent="0" marL="0">
              <a:buNone/>
            </a:pPr>
            <a:r>
              <a:rPr lang="en-US" sz="15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at High + Medium.
</a:t>
            </a:r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stops · AED 20.5M capex
5-yr NPV +79.2M · payback &lt; 1 yr
</a:t>
            </a:r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Low tier's violation density is too thin to carry a fixed installation — leave it to the portable fleet.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Assumed: AED 40k/site capex, 5k/yr opex (benchmark; pre-RFP).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B — portable cameras: small capex, follows the problem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309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40664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406640" y="248716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violations seen per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camera per day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960120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3.5×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601200" y="248716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revenue vs daily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 cost per unit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4800600"/>
            <a:ext cx="10972800" cy="1554480"/>
          </a:xfrm>
          <a:prstGeom prst="roundRect">
            <a:avLst>
              <a:gd name="adj" fmla="val 4706"/>
            </a:avLst>
          </a:prstGeom>
          <a:solidFill>
            <a:srgbClr val="F4F7FC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49834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 per unit: </a:t>
            </a:r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AED 830/day collected vs ≈ AED 240/day cost (AED 15k capex + 60k/yr crew, vehicle, redeployment). Every fleet size is NPV-positive — value scales with units, and rotation adds a "cameras could be anywhere" deterrence halo that fixed sites lack. Trade-off: only 2–5% of stop-time covered, so OTP recovery is slower than fixed coverage.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223760" y="39776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at High-tier stops; deterrence decay 15%/yr under monthly rotation.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5-year money story — hybrid programme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cameras at 512 High + Medium stops, plus 20 portable units. All figures AED, undiscounted cash per year.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60120" y="150876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5087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deploy High tier + portable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069080" y="150876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3C4A9E"/>
          </a:solidFill>
          <a:ln/>
        </p:spPr>
      </p:sp>
      <p:sp>
        <p:nvSpPr>
          <p:cNvPr id="7" name="Text 5"/>
          <p:cNvSpPr/>
          <p:nvPr/>
        </p:nvSpPr>
        <p:spPr>
          <a:xfrm>
            <a:off x="4069080" y="15087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extend to Medium tier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178040" y="1508760"/>
            <a:ext cx="4343400" cy="384048"/>
          </a:xfrm>
          <a:prstGeom prst="roundRect">
            <a:avLst>
              <a:gd name="adj" fmla="val 50000"/>
            </a:avLst>
          </a:prstGeom>
          <a:solidFill>
            <a:srgbClr val="2A3575"/>
          </a:solidFill>
          <a:ln/>
        </p:spPr>
      </p:sp>
      <p:sp>
        <p:nvSpPr>
          <p:cNvPr id="9" name="Text 7"/>
          <p:cNvSpPr/>
          <p:nvPr/>
        </p:nvSpPr>
        <p:spPr>
          <a:xfrm>
            <a:off x="7178040" y="15087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steady state, review Low tier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3794760"/>
            <a:ext cx="10515600" cy="0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133856" y="3694176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9B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−20.8M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4023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capex: 512 fixed sites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+ 20 portable units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17520" y="3694176"/>
            <a:ext cx="201168" cy="20116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2249424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+46.8M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249424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49424" y="4023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−3.8M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49424" y="46908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FD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+43.0M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01184" y="3694176"/>
            <a:ext cx="201168" cy="20116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21" name="Text 19"/>
          <p:cNvSpPr/>
          <p:nvPr/>
        </p:nvSpPr>
        <p:spPr>
          <a:xfrm>
            <a:off x="4133088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+35.5M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133088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33088" y="4023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−3.8M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33088" y="46908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FD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+31.8M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784848" y="3694176"/>
            <a:ext cx="201168" cy="20116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26" name="Text 24"/>
          <p:cNvSpPr/>
          <p:nvPr/>
        </p:nvSpPr>
        <p:spPr>
          <a:xfrm>
            <a:off x="6016752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+27.0M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016752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16752" y="4023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−3.8M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16752" y="46908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FD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+23.3M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668512" y="3694176"/>
            <a:ext cx="201168" cy="20116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31" name="Text 29"/>
          <p:cNvSpPr/>
          <p:nvPr/>
        </p:nvSpPr>
        <p:spPr>
          <a:xfrm>
            <a:off x="7900416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+20.6M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900416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900416" y="4023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−3.8M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00416" y="46908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FD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+16.8M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552176" y="3694176"/>
            <a:ext cx="201168" cy="20116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0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+15.7M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9784080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784080" y="4023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−3.8M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784080" y="46908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FD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+11.9M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408176" y="1938528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1408176" y="193852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~ MONTH 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322576" y="2340864"/>
            <a:ext cx="0" cy="1362456"/>
          </a:xfrm>
          <a:prstGeom prst="line">
            <a:avLst/>
          </a:prstGeom>
          <a:noFill/>
          <a:ln w="19050">
            <a:solidFill>
              <a:srgbClr val="FFFFFF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40080" y="52120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2A3575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3583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+106M</a:t>
            </a:r>
            <a:endParaRPr lang="en-US" sz="3000" dirty="0"/>
          </a:p>
        </p:txBody>
      </p:sp>
      <p:sp>
        <p:nvSpPr>
          <p:cNvPr id="45" name="Text 43"/>
          <p:cNvSpPr/>
          <p:nvPr/>
        </p:nvSpPr>
        <p:spPr>
          <a:xfrm>
            <a:off x="777240" y="6126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cash by end of year 5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343400" y="52120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2A3575"/>
          </a:solidFill>
          <a:ln/>
        </p:spPr>
      </p:sp>
      <p:sp>
        <p:nvSpPr>
          <p:cNvPr id="47" name="Text 45"/>
          <p:cNvSpPr/>
          <p:nvPr/>
        </p:nvSpPr>
        <p:spPr>
          <a:xfrm>
            <a:off x="4343400" y="53583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+87M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4480560" y="6126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present value @ 7% discount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046720" y="52120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2A3575"/>
          </a:solidFill>
          <a:ln/>
        </p:spPr>
      </p:sp>
      <p:sp>
        <p:nvSpPr>
          <p:cNvPr id="50" name="Text 48"/>
          <p:cNvSpPr/>
          <p:nvPr/>
        </p:nvSpPr>
        <p:spPr>
          <a:xfrm>
            <a:off x="8046720" y="53583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+0.85 pp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8183880" y="6126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OTP recovered — the return that compounds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Recommendation: the hybrid programme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2A3575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D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Months 0–6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cameras at 112 High-tier stops + 20 portable units.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validation survey that firms Medium/Low rates.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≈ AED 4.8M.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34840" y="14630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2A3575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691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Months 6–18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663440" y="21488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fixed coverage to the 400 Medium-tier stops.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portable fleet to 30–50 as validated data directs.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≈ AED 16M — funded by Phase 1 revenue.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14630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2A3575"/>
          </a:solidFill>
          <a:ln/>
        </p:spPr>
      </p:sp>
      <p:sp>
        <p:nvSpPr>
          <p:cNvPr id="10" name="Text 8"/>
          <p:cNvSpPr/>
          <p:nvPr/>
        </p:nvSpPr>
        <p:spPr>
          <a:xfrm>
            <a:off x="8458200" y="1691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Year 2+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58200" y="21488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 rotation covers the Low tier and emerging hotspots.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with the fines system; publish OTP recovery.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AED 200 vs AED 500 federal fine level.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+87M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5-yr NPV, hybrid programme (AED)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434840" y="4480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+0.85pp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434840" y="5349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OTP recoverable network-wide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0" y="4480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yr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229600" y="5349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on every element deployed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is the financing bridge, not the goal: it declines as compliance improves, while the OTP and safety gains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peer city has already moved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36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— MTA ACE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Bus-mounted cameras, escalating fines US$50–250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~5% faster buses, ~20% fewer collisions, ~30% fewer repeat violations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3716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7F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536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London — TfL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3796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stop clearways, CCTV-enforced 24/7, PCN £160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3796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Near-universal kerb access; compliance underpins the iBus OTP regime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7F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5021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Singapore — LTA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68680" y="3904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Camera-equipped buses since 2008, ~S$150 fine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42976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bus-lane and stop compliance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3375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7FC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35021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Sydney — TfNSW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537960" y="3904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Bus-zone offence ≈ A$390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42976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Deterrence through penalty level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39496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55955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Dubai today: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patrols only. This study models a conservative AED 200 fine — the federal schedule already allows AED 500 for stopping in a bus stop, which would scale every revenue figure ×2.5 and turn even the Low tier positive.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requested today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7675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41732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Phase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19656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~5M: fixed cameras at the 112 High-tier stops plus a 20-unit portable fleet. Self-funding within year 1.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68376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62432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revenue retention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026664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with Dubai Police / DoF how bus-stop fine revenue is shared — the single biggest swing factor in the cash ROI.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9044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89077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83133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the validation survey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423367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weeks at ~20 Medium/Low-tier stops to replace the two assumed rate multipliers with measurements.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1114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509778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03834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the enforcement RFP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54406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ANPR fixed sites + portable units + fines-system integration, structured to allow bus-mounted cameras (NYC model) as a Phase 3 extension.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study, data and adjustable financial model: repo gtfslatest · STUDY.md · parking_otp_impact_model.xlsx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2026-07-30T20:27:52Z</dcterms:created>
  <dcterms:modified xsi:type="dcterms:W3CDTF">2026-07-30T20:27:52Z</dcterms:modified>
</cp:coreProperties>
</file>