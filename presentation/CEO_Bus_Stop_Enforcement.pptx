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Blocked-layby cases by location (07:00–10:00, single day)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 per stop (3h)</c:v>
                </c:pt>
              </c:strCache>
            </c:strRef>
          </c:tx>
          <c:spPr>
            <a:solidFill>
              <a:srgbClr val="3C4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Business Bay</c:v>
                  </c:pt>
                  <c:pt idx="1">
                    <c:v>Sharaf DG Metro</c:v>
                  </c:pt>
                  <c:pt idx="2">
                    <c:v>Burjuman</c:v>
                  </c:pt>
                  <c:pt idx="3">
                    <c:v>Al Jafliya</c:v>
                  </c:pt>
                  <c:pt idx="4">
                    <c:v>Naif Int.</c:v>
                  </c:pt>
                  <c:pt idx="5">
                    <c:v>Burj Nahar</c:v>
                  </c:pt>
                  <c:pt idx="6">
                    <c:v>Al Hana</c:v>
                  </c:pt>
                  <c:pt idx="7">
                    <c:v>Al Rigga</c:v>
                  </c:pt>
                  <c:pt idx="8">
                    <c:v>Salah Al Din</c:v>
                  </c:pt>
                  <c:pt idx="9">
                    <c:v>Emirates Twr</c:v>
                  </c:pt>
                  <c:pt idx="10">
                    <c:v>Al Khail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8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A64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Extra late trips per year by tier (60 s per obstruction)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Extra late trips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 tier</c:v>
                  </c:pt>
                  <c:pt idx="1">
                    <c:v>Medium tier</c:v>
                  </c:pt>
                  <c:pt idx="2">
                    <c:v>Low tier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11500</c:v>
                </c:pt>
                <c:pt idx="1">
                  <c:v>8500</c:v>
                </c:pt>
                <c:pt idx="2">
                  <c:v>1880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A64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Revenue declines 25%/yr — because deterrence is working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fine revenue (AED M)</c:v>
                </c:pt>
              </c:strCache>
            </c:strRef>
          </c:tx>
          <c:spPr>
            <a:solidFill>
              <a:srgbClr val="1E8E5A"/>
            </a:solidFill>
            <a:ln w="38100" cap="flat">
              <a:solidFill>
                <a:srgbClr val="1E8E5A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8E5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8E5A"/>
              </a:solidFill>
              <a:ln w="9525" cap="flat">
                <a:solidFill>
                  <a:srgbClr val="1E8E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46.5</c:v>
                </c:pt>
                <c:pt idx="1">
                  <c:v>34.8</c:v>
                </c:pt>
                <c:pt idx="2">
                  <c:v>26.1</c:v>
                </c:pt>
                <c:pt idx="3">
                  <c:v>19.6</c:v>
                </c:pt>
                <c:pt idx="4">
                  <c:v>14.7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E8E5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5-year NPV by tier (AED 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5-yr NPV (AED M)</c:v>
                </c:pt>
              </c:strCache>
            </c:strRef>
          </c:tx>
          <c:spPr>
            <a:solidFill>
              <a:srgbClr val="1E8E5A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8E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E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High</c:v>
                  </c:pt>
                  <c:pt idx="1">
                    <c:v>Medium</c:v>
                  </c:pt>
                  <c:pt idx="2">
                    <c:v>Low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56.6</c:v>
                </c:pt>
                <c:pt idx="1">
                  <c:v>22.6</c:v>
                </c:pt>
                <c:pt idx="2">
                  <c:v>-13.8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A64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5-yr NPV by fleet size, monthly rotation at High-tier stops (AED 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5-yr NPV (AED M)</c:v>
                </c:pt>
              </c:strCache>
            </c:strRef>
          </c:tx>
          <c:spPr>
            <a:solidFill>
              <a:srgbClr val="1E8E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 units</c:v>
                  </c:pt>
                  <c:pt idx="1">
                    <c:v>30 units</c:v>
                  </c:pt>
                  <c:pt idx="2">
                    <c:v>40 units</c:v>
                  </c:pt>
                  <c:pt idx="3">
                    <c:v>50 units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</c:v>
                </c:pt>
                <c:pt idx="1">
                  <c:v>12.5</c:v>
                </c:pt>
                <c:pt idx="2">
                  <c:v>16.6</c:v>
                </c:pt>
                <c:pt idx="3">
                  <c:v>20.8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A64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Kerb revenue ramps up as fines ramp down (AED 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Kerb revenue (AED M)</c:v>
                </c:pt>
              </c:strCache>
            </c:strRef>
          </c:tx>
          <c:spPr>
            <a:solidFill>
              <a:srgbClr val="1E8E5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</c:v>
                </c:pt>
                <c:pt idx="1">
                  <c:v>3.4</c:v>
                </c:pt>
                <c:pt idx="2">
                  <c:v>4.2</c:v>
                </c:pt>
                <c:pt idx="3">
                  <c:v>4.2</c:v>
                </c:pt>
                <c:pt idx="4">
                  <c:v>4.2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A64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tfslatest/ee99cc7d-ecc7-5ace-9c26-ca6b03a1dfd7/scratchpad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pic>
        <p:nvPicPr>
          <p:cNvPr id="3" name="Image 1" descr="/tmp/claude-0/-home-user-gtfslatest/ee99cc7d-ecc7-5ace-9c26-ca6b03a1dfd7/scratchpad/ph_lexus_bu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17320"/>
            <a:ext cx="2468880" cy="3291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17520" y="1737360"/>
            <a:ext cx="9006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Illegal Parking in Bus Stops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3657600" y="27889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generation via fines &amp; kerb fees</a:t>
            </a:r>
            <a:endParaRPr lang="en-US" sz="1800" dirty="0"/>
          </a:p>
        </p:txBody>
      </p:sp>
      <p:pic>
        <p:nvPicPr>
          <p:cNvPr id="6" name="Image 2" descr="/tmp/claude-0/-home-user-gtfslatest/ee99cc7d-ecc7-5ace-9c26-ca6b03a1dfd7/scratchpad/icon_coi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825496"/>
            <a:ext cx="329184" cy="32918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0" y="333756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On-Time Performance of buses</a:t>
            </a:r>
            <a:endParaRPr lang="en-US" sz="1800" dirty="0"/>
          </a:p>
        </p:txBody>
      </p:sp>
      <p:pic>
        <p:nvPicPr>
          <p:cNvPr id="8" name="Image 3" descr="/tmp/claude-0/-home-user-gtfslatest/ee99cc7d-ecc7-5ace-9c26-ca6b03a1dfd7/scratchpad/icon_wat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3374136"/>
            <a:ext cx="329184" cy="32918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657600" y="38862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Passenger-safety exposure</a:t>
            </a:r>
            <a:endParaRPr lang="en-US" sz="1800" dirty="0"/>
          </a:p>
        </p:txBody>
      </p:sp>
      <p:pic>
        <p:nvPicPr>
          <p:cNvPr id="10" name="Image 4" descr="/tmp/claude-0/-home-user-gtfslatest/ee99cc7d-ecc7-5ace-9c26-ca6b03a1dfd7/scratchpad/icon_us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3922776"/>
            <a:ext cx="329184" cy="32918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3657600" y="4480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self-funding enforcement &amp; monetization programme</a:t>
            </a:r>
            <a:endParaRPr lang="en-US" sz="1700" dirty="0"/>
          </a:p>
        </p:txBody>
      </p:sp>
      <p:sp>
        <p:nvSpPr>
          <p:cNvPr id="12" name="Text 5"/>
          <p:cNvSpPr/>
          <p:nvPr/>
        </p:nvSpPr>
        <p:spPr>
          <a:xfrm>
            <a:off x="22860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Transport Agency  ·  Bus Performance Study  ·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18120" cy="713232"/>
          </a:xfrm>
          <a:prstGeom prst="rect">
            <a:avLst/>
          </a:prstGeom>
          <a:solidFill>
            <a:srgbClr val="171C8F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18288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pic>
        <p:nvPicPr>
          <p:cNvPr id="4" name="Image 0" descr="/tmp/claude-0/-home-user-gtfslatest/ee99cc7d-ecc7-5ace-9c26-ca6b03a1dfd7/scratchpa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261872"/>
            <a:ext cx="3520440" cy="1536192"/>
          </a:xfrm>
          <a:prstGeom prst="roundRect">
            <a:avLst>
              <a:gd name="adj" fmla="val 5357"/>
            </a:avLst>
          </a:prstGeom>
          <a:solidFill>
            <a:srgbClr val="B4C7E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38988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346k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217627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Estimated Illegal Parking
</a:t>
            </a:r>
            <a:pPr algn="ctr" indent="0" marL="0">
              <a:buNone/>
            </a:pPr>
            <a:r>
              <a:rPr lang="en-US" sz="1000" dirty="0">
                <a:solidFill>
                  <a:srgbClr val="445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912 stops carrying 76% of peak arrivals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261872"/>
            <a:ext cx="3520440" cy="1536192"/>
          </a:xfrm>
          <a:prstGeom prst="roundRect">
            <a:avLst>
              <a:gd name="adj" fmla="val 5357"/>
            </a:avLst>
          </a:prstGeom>
          <a:solidFill>
            <a:srgbClr val="B4C7E7"/>
          </a:solidFill>
          <a:ln/>
        </p:spPr>
      </p:sp>
      <p:sp>
        <p:nvSpPr>
          <p:cNvPr id="10" name="Text 7"/>
          <p:cNvSpPr/>
          <p:nvPr/>
        </p:nvSpPr>
        <p:spPr>
          <a:xfrm>
            <a:off x="4343400" y="138988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~1.5 %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480560" y="217627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On-Time Performance Loss
</a:t>
            </a:r>
            <a:pPr algn="ctr" indent="0" marL="0">
              <a:buNone/>
            </a:pPr>
            <a:r>
              <a:rPr lang="en-US" sz="1000" dirty="0">
                <a:solidFill>
                  <a:srgbClr val="445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network-wide (60s per obstruction scenario)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46720" y="1261872"/>
            <a:ext cx="3520440" cy="1536192"/>
          </a:xfrm>
          <a:prstGeom prst="roundRect">
            <a:avLst>
              <a:gd name="adj" fmla="val 5357"/>
            </a:avLst>
          </a:prstGeom>
          <a:solidFill>
            <a:srgbClr val="B4C7E7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38988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2,900 h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183880" y="217627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Bus Delay
</a:t>
            </a:r>
            <a:pPr algn="ctr" indent="0" marL="0">
              <a:buNone/>
            </a:pPr>
            <a:r>
              <a:rPr lang="en-US" sz="1000" dirty="0">
                <a:solidFill>
                  <a:srgbClr val="445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 data and an 11-stop field survey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 PAYS FOR ITSELF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291840"/>
            <a:ext cx="3520440" cy="1536192"/>
          </a:xfrm>
          <a:prstGeom prst="roundRect">
            <a:avLst>
              <a:gd name="adj" fmla="val 5357"/>
            </a:avLst>
          </a:prstGeom>
          <a:solidFill>
            <a:srgbClr val="B4C7E7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41985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46M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777240" y="420624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Year-1 fine revenue
</a:t>
            </a:r>
            <a:pPr algn="ctr" indent="0" marL="0">
              <a:buNone/>
            </a:pPr>
            <a:r>
              <a:rPr lang="en-US" sz="1000" dirty="0">
                <a:solidFill>
                  <a:srgbClr val="445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(AED 200/violation, 56% ticket-to-cash) + kerb fees growing to 4.2M/yr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343400" y="3291840"/>
            <a:ext cx="3520440" cy="1536192"/>
          </a:xfrm>
          <a:prstGeom prst="roundRect">
            <a:avLst>
              <a:gd name="adj" fmla="val 5357"/>
            </a:avLst>
          </a:prstGeom>
          <a:solidFill>
            <a:srgbClr val="B4C7E7"/>
          </a:solidFill>
          <a:ln/>
        </p:spPr>
      </p:sp>
      <p:sp>
        <p:nvSpPr>
          <p:cNvPr id="20" name="Text 17"/>
          <p:cNvSpPr/>
          <p:nvPr/>
        </p:nvSpPr>
        <p:spPr>
          <a:xfrm>
            <a:off x="4343400" y="341985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+98M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4480560" y="420624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5-yr NPV @7%
</a:t>
            </a:r>
            <a:pPr algn="ctr" indent="0" marL="0">
              <a:buNone/>
            </a:pPr>
            <a:r>
              <a:rPr lang="en-US" sz="1000" dirty="0">
                <a:solidFill>
                  <a:srgbClr val="445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fixed 512 stops + 20 portable + kerb monetization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046720" y="3291840"/>
            <a:ext cx="3520440" cy="1536192"/>
          </a:xfrm>
          <a:prstGeom prst="roundRect">
            <a:avLst>
              <a:gd name="adj" fmla="val 5357"/>
            </a:avLst>
          </a:prstGeom>
          <a:solidFill>
            <a:srgbClr val="B4C7E7"/>
          </a:solidFill>
          <a:ln/>
        </p:spPr>
      </p:sp>
      <p:sp>
        <p:nvSpPr>
          <p:cNvPr id="23" name="Text 20"/>
          <p:cNvSpPr/>
          <p:nvPr/>
        </p:nvSpPr>
        <p:spPr>
          <a:xfrm>
            <a:off x="8046720" y="341985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year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8183880" y="420624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
</a:t>
            </a:r>
            <a:pPr algn="ctr" indent="0" marL="0">
              <a:buNone/>
            </a:pPr>
            <a:r>
              <a:rPr lang="en-US" sz="1000" dirty="0">
                <a:solidFill>
                  <a:srgbClr val="445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declines only because deterrence works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40080" y="5074920"/>
            <a:ext cx="10927080" cy="1417320"/>
          </a:xfrm>
          <a:prstGeom prst="roundRect">
            <a:avLst>
              <a:gd name="adj" fmla="val 5806"/>
            </a:avLst>
          </a:prstGeom>
          <a:solidFill>
            <a:srgbClr val="002060"/>
          </a:solidFill>
          <a:ln/>
        </p:spPr>
      </p:sp>
      <p:pic>
        <p:nvPicPr>
          <p:cNvPr id="26" name="Image 1" descr="/tmp/claude-0/-home-user-gtfslatest/ee99cc7d-ecc7-5ace-9c26-ca6b03a1dfd7/scratchpad/field_pho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248656"/>
            <a:ext cx="603504" cy="10698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691640" y="52303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SAFETY ISSUE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1691640" y="57424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C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Passengers board and alight in live traffic lane (field photo)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tfslatest/ee99cc7d-ecc7-5ace-9c26-ca6b03a1dfd7/scratchpad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749040" cy="548640"/>
          </a:xfrm>
          <a:prstGeom prst="roundRect">
            <a:avLst>
              <a:gd name="adj" fmla="val 50000"/>
            </a:avLst>
          </a:prstGeom>
          <a:solidFill>
            <a:srgbClr val="D35400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502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SAFETY ISSUE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Passengers step off into moving traffic</a:t>
            </a:r>
            <a:endParaRPr lang="en-US" sz="3400" dirty="0"/>
          </a:p>
        </p:txBody>
      </p:sp>
      <p:pic>
        <p:nvPicPr>
          <p:cNvPr id="6" name="Image 1" descr="/tmp/claude-0/-home-user-gtfslatest/ee99cc7d-ecc7-5ace-9c26-ca6b03a1dfd7/scratchpad/field_pho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777240"/>
            <a:ext cx="2743200" cy="4873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23960" y="5715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photo, 28 Jul 2026 — layby blocked by a private car; the bus serves the stop from the carriageway and the passenger alights on the road, not the kerb.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731520" y="228600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227228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25880" y="22402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346,000 / year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25880" y="262432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obstructed arrivals — each one a potential boarding or alighting in the live lane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31520" y="3319272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330555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25880" y="327355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vulnerable pay first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325880" y="36576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elderly passengers, wheelchair users, parents with children — level kerb access is exactly what the layby exists to provide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31520" y="4352544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3"/>
          <p:cNvSpPr/>
          <p:nvPr/>
        </p:nvSpPr>
        <p:spPr>
          <a:xfrm>
            <a:off x="731520" y="433882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25880" y="430682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Zero-distance near-misses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325880" y="469087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door opens into the same lane cars use to overtake the stopped bus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731520" y="5385816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7"/>
          <p:cNvSpPr/>
          <p:nvPr/>
        </p:nvSpPr>
        <p:spPr>
          <a:xfrm>
            <a:off x="731520" y="53721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25880" y="53400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liability the Agency carries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325880" y="572414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peer city (NYC, London, Singapore) criminalised bus-stop parking on safety grounds before revenue grounds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tfslatest/ee99cc7d-ecc7-5ace-9c26-ca6b03a1dfd7/scratchpa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 daily, across the network</a:t>
            </a:r>
            <a:endParaRPr lang="en-US" sz="3200" dirty="0"/>
          </a:p>
        </p:txBody>
      </p:sp>
      <p:pic>
        <p:nvPicPr>
          <p:cNvPr id="4" name="Image 1" descr="/tmp/claude-0/-home-user-gtfslatest/ee99cc7d-ecc7-5ace-9c26-ca6b03a1dfd7/scratchpad/ph_lexus_bu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2788920" cy="37216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5029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car holds the layby — the bus loads in the traffic lane beside it</a:t>
            </a:r>
            <a:endParaRPr lang="en-US" sz="1100" dirty="0"/>
          </a:p>
        </p:txBody>
      </p:sp>
      <p:pic>
        <p:nvPicPr>
          <p:cNvPr id="6" name="Image 2" descr="/tmp/claude-0/-home-user-gtfslatest/ee99cc7d-ecc7-5ace-9c26-ca6b03a1dfd7/scratchpad/ph_taxi_sig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234440"/>
            <a:ext cx="2788920" cy="372160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11880" y="5029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 and van parked hard against the marked, signed bus stop (route F16)</a:t>
            </a:r>
            <a:endParaRPr lang="en-US" sz="1100" dirty="0"/>
          </a:p>
        </p:txBody>
      </p:sp>
      <p:pic>
        <p:nvPicPr>
          <p:cNvPr id="8" name="Image 3" descr="/tmp/claude-0/-home-user-gtfslatest/ee99cc7d-ecc7-5ace-9c26-ca6b03a1dfd7/scratchpad/ph_bus_lan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234440"/>
            <a:ext cx="2788920" cy="372160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583680" y="5029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Vans occupy the stop — the Al Quoz New Housing bus is forced to serve from the lane</a:t>
            </a:r>
            <a:endParaRPr lang="en-US" sz="1100" dirty="0"/>
          </a:p>
        </p:txBody>
      </p:sp>
      <p:sp>
        <p:nvSpPr>
          <p:cNvPr id="10" name="Shape 4"/>
          <p:cNvSpPr/>
          <p:nvPr/>
        </p:nvSpPr>
        <p:spPr>
          <a:xfrm>
            <a:off x="9646920" y="1234440"/>
            <a:ext cx="1920240" cy="3721608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11" name="Text 5"/>
          <p:cNvSpPr/>
          <p:nvPr/>
        </p:nvSpPr>
        <p:spPr>
          <a:xfrm>
            <a:off x="9802368" y="1463040"/>
            <a:ext cx="160934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blocks the stops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Taxis &amp; limousines
labour/shuttle vans
private cars
</a:t>
            </a:r>
            <a:pPr indent="0" marL="0">
              <a:buNone/>
            </a:pPr>
            <a:r>
              <a:rPr lang="en-US" sz="2200" b="1" dirty="0">
                <a:solidFill>
                  <a:srgbClr val="FF9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cases
</a:t>
            </a:r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3-hour morning at just 11 stops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9646920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photos: PTA field observations, Jul 2026.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tfslatest/ee99cc7d-ecc7-5ace-9c26-ca6b03a1dfd7/scratchpa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evidence: Morning Peak (7 to 10 AM), 11 stops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4630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239572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blocked-layby cases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(07:00–10:00)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520440" y="14630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21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520440" y="239572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AM-peak bus arrivals met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obstructed layby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0" y="14630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87.2%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0" y="239572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OTP that day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(38 routes, 72,679 stop events)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0" y="14630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78.7%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9144000" y="239572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at Sharaf DG Metro 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stop, most blockages (8)</a:t>
            </a:r>
            <a:endParaRPr lang="en-US" sz="12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0080" y="3291840"/>
          <a:ext cx="7863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8778240" y="3566160"/>
            <a:ext cx="2834640" cy="2468880"/>
          </a:xfrm>
          <a:prstGeom prst="roundRect">
            <a:avLst>
              <a:gd name="adj" fmla="val 2963"/>
            </a:avLst>
          </a:prstGeom>
          <a:solidFill>
            <a:srgbClr val="F4F7FC"/>
          </a:solidFill>
          <a:ln/>
        </p:spPr>
      </p:sp>
      <p:sp>
        <p:nvSpPr>
          <p:cNvPr id="14" name="Text 10"/>
          <p:cNvSpPr/>
          <p:nvPr/>
        </p:nvSpPr>
        <p:spPr>
          <a:xfrm>
            <a:off x="9006840" y="379476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
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 data (22 Jul 2026) confirms these stops carry 1,254 bus arrivals in the AM peak alone — and that late running already concentrates in peak hours.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tfslatest/ee99cc7d-ecc7-5ace-9c26-ca6b03a1dfd7/scratchpa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Network-wide: 912 stops carry the risk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stop in the GTFS network was scored on the surveyed hotspot profile: peak bus throughput plus metro-station or mall adjacency.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7724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3657600"/>
                <a:gridCol w="1188720"/>
                <a:gridCol w="1097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peak arrivals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blockages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Matches surveyed profile (metro/mall + heavy throughput) — survey-calibrated rate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182,000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400 by peak throughput — 50% of survey rate (assumption)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134,000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Following 400 — 25% of survey rate (assumption)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30,000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in 10 network stops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346,000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823960" y="19202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8823960" y="28529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peak bus arrivals happen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these 912 stops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823960" y="36576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8823960" y="45902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 per stop per day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High-tier stops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non-surveyed exposures: Ibn Battuta, Union Metro, Mall of the Emirates, Gold Souq, Dubai Mall Metro, ADCB Metro.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tfslatest/ee99cc7d-ecc7-5ace-9c26-ca6b03a1dfd7/scratchpa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 the network every year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4630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346,000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23957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arrivals obstructed per year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(912 stops, both peaks)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343400" y="14630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2,900 h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343400" y="23957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direct bus delay per year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(at 30 s per obstruction)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0" y="14630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−0.85 pp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046720" y="23957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OTP lost network-wide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(30–60 s scenarios: −0.35 to −0.85)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0080" y="3383280"/>
          <a:ext cx="58521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858000" y="3566160"/>
            <a:ext cx="4754880" cy="2377440"/>
          </a:xfrm>
          <a:prstGeom prst="roundRect">
            <a:avLst>
              <a:gd name="adj" fmla="val 3077"/>
            </a:avLst>
          </a:prstGeom>
          <a:solidFill>
            <a:srgbClr val="F4F7FC"/>
          </a:solidFill>
          <a:ln/>
        </p:spPr>
      </p:sp>
      <p:sp>
        <p:nvSpPr>
          <p:cNvPr id="12" name="Text 8"/>
          <p:cNvSpPr/>
          <p:nvPr/>
        </p:nvSpPr>
        <p:spPr>
          <a:xfrm>
            <a:off x="7086600" y="3767328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small delays matter
</a:t>
            </a:r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counts a trip late beyond +5 minutes. The damage lands on trips already 4–5 minutes behind — 12.7% of peak stop events. A 30-second obstruction tips 1 in 38 of the trips it touches over the line; at 60 seconds, 1 in 16.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tfslatest/ee99cc7d-ecc7-5ace-9c26-ca6b03a1dfd7/scratchpa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Enforcement pays: the violation-to-cash funnel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40080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415,000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7724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detectable violations / yr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" y="26700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 watch 24/7 — off-peak adds 20%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6472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3008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</p:spPr>
      </p:sp>
      <p:sp>
        <p:nvSpPr>
          <p:cNvPr id="10" name="Text 7"/>
          <p:cNvSpPr/>
          <p:nvPr/>
        </p:nvSpPr>
        <p:spPr>
          <a:xfrm>
            <a:off x="3493008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290,000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630168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tickets (70%)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630168" y="26700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 readable, stationary, de-duplicated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53328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6472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345936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</p:spPr>
      </p:sp>
      <p:sp>
        <p:nvSpPr>
          <p:cNvPr id="15" name="Text 12"/>
          <p:cNvSpPr/>
          <p:nvPr/>
        </p:nvSpPr>
        <p:spPr>
          <a:xfrm>
            <a:off x="6345936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232,000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483096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 (80%)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83096" y="26700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AED 200 per violation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906256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6472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9198864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</p:spPr>
      </p:sp>
      <p:sp>
        <p:nvSpPr>
          <p:cNvPr id="20" name="Text 17"/>
          <p:cNvSpPr/>
          <p:nvPr/>
        </p:nvSpPr>
        <p:spPr>
          <a:xfrm>
            <a:off x="9198864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46M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9336024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revenue, year 1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336024" y="26700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 by design as deterrence works</a:t>
            </a:r>
            <a:endParaRPr lang="en-US" sz="10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40080" y="3749040"/>
          <a:ext cx="67665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7772400" y="397764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25" name="Text 21"/>
          <p:cNvSpPr/>
          <p:nvPr/>
        </p:nvSpPr>
        <p:spPr>
          <a:xfrm>
            <a:off x="8001000" y="42062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pitch
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Fines finance the system in years 1–3. The permanent returns are OTP recovery, safe boarding — and kerb fees that grow as fines shrink.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tfslatest/ee99cc7d-ecc7-5ace-9c26-ca6b03a1dfd7/scratchpa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— fixed cameras: invest where density pays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371600"/>
                <a:gridCol w="1371600"/>
                <a:gridCol w="1005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yr 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5-yr NPV @7%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Payback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112 stops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AED 4.5M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AED 24.4M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+56.6M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 year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— 400 stops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AED 16.0M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AED 18.0M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+22.6M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 year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400 stops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AED 16.0M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AED 4.0M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−13.8M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40080" y="3840480"/>
          <a:ext cx="69494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1"/>
          <p:cNvSpPr/>
          <p:nvPr/>
        </p:nvSpPr>
        <p:spPr>
          <a:xfrm>
            <a:off x="7955280" y="1417320"/>
            <a:ext cx="3657600" cy="4983480"/>
          </a:xfrm>
          <a:prstGeom prst="roundRect">
            <a:avLst>
              <a:gd name="adj" fmla="val 2000"/>
            </a:avLst>
          </a:prstGeom>
          <a:solidFill>
            <a:srgbClr val="F4F7FC"/>
          </a:solidFill>
          <a:ln/>
        </p:spPr>
      </p:sp>
      <p:sp>
        <p:nvSpPr>
          <p:cNvPr id="7" name="Text 2"/>
          <p:cNvSpPr/>
          <p:nvPr/>
        </p:nvSpPr>
        <p:spPr>
          <a:xfrm>
            <a:off x="8183880" y="1645920"/>
            <a:ext cx="3200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
</a:t>
            </a:r>
            <a:pPr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at High + Medium.
</a:t>
            </a:r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stops · AED 20.5M capex
5-yr NPV +79.2M · payback &lt; 1 yr
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Low tier's violation density is too thin to carry a fixed installation — leave it to the portable fleet.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Assumed: AED 40k/site capex, 5k/yr opex (benchmark; pre-RFP).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tfslatest/ee99cc7d-ecc7-5ace-9c26-ca6b03a1dfd7/scratchpa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portable cameras: small capex, follows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309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7406640" y="16459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7406640" y="25786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 seen per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camera per day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9601200" y="16459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3.5×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9601200" y="25786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revenue vs daily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 cost per unit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0080" y="4800600"/>
            <a:ext cx="10972800" cy="155448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</p:spPr>
      </p:sp>
      <p:sp>
        <p:nvSpPr>
          <p:cNvPr id="10" name="Text 6"/>
          <p:cNvSpPr/>
          <p:nvPr/>
        </p:nvSpPr>
        <p:spPr>
          <a:xfrm>
            <a:off x="868680" y="49834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per unit: </a:t>
            </a:r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AED 830/day collected vs ≈ AED 240/day cost (AED 15k capex + 60k/yr crew, vehicle, redeployment). Every fleet size is NPV-positive — value scales with units, and rotation adds a "cameras could be anywhere" deterrence halo that fixed sites lack. Trade-off: only 2–5% of stop-time covered, so OTP recovery is slower than fixed coverage.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223760" y="40690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at High-tier stops; deterrence decay 15%/yr under monthly rotation.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tfslatest/ee99cc7d-ecc7-5ace-9c26-ca6b03a1dfd7/scratchpa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Monetize the kerb: charge operators for legal use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creates a licensed product to sell: managed, off-peak layby access (max 3-min dwell, geofence-verified) — billed by the same ANPR cameras, so marginal field cost is ~zero.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120640" cy="1508760"/>
          </a:xfrm>
          <a:prstGeom prst="roundRect">
            <a:avLst>
              <a:gd name="adj" fmla="val 5455"/>
            </a:avLst>
          </a:prstGeom>
          <a:solidFill>
            <a:srgbClr val="F4F7FC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9568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2.4M / yr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8680" y="245059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layby-access permits
</a:t>
            </a:r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licensed shuttle &amp; coach vehicles × AED 1,200/yr — off-peak windows only, never during bus peaks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520440"/>
            <a:ext cx="5120640" cy="1508760"/>
          </a:xfrm>
          <a:prstGeom prst="roundRect">
            <a:avLst>
              <a:gd name="adj" fmla="val 5455"/>
            </a:avLst>
          </a:prstGeom>
          <a:solidFill>
            <a:srgbClr val="F4F7FC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6484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1.8M / yr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68680" y="414223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Pay-per-use kerb fee
</a:t>
            </a:r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paid dwells/day × AED 5, ANPR-billed — the airport kerb-fee model applied to bus laybys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126480" y="1783080"/>
          <a:ext cx="54864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640080" y="534924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002060"/>
          </a:solidFill>
          <a:ln/>
        </p:spPr>
      </p:sp>
      <p:sp>
        <p:nvSpPr>
          <p:cNvPr id="13" name="Text 9"/>
          <p:cNvSpPr/>
          <p:nvPr/>
        </p:nvSpPr>
        <p:spPr>
          <a:xfrm>
            <a:off x="868680" y="5486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+10.2M NPV · payback year 2 ·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unlike fines, this line grows: it converts today's violators into paying customers with a legal option, and becomes the programme's permanent revenue as deterrence shrinks the fine curve. Setup: AED 2M platform + 0.5M/yr admin (assumptions, adjustable).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tfslatest/ee99cc7d-ecc7-5ace-9c26-ca6b03a1dfd7/scratchpad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5-year money story — full programme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cameras at 512 High + Medium stops, 20 portable units, plus kerb monetization. All figures AED, undiscounted cash per year.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960120" y="150876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5087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deploy High tier + portable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069080" y="150876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3C4A9E"/>
          </a:solidFill>
          <a:ln/>
        </p:spPr>
      </p:sp>
      <p:sp>
        <p:nvSpPr>
          <p:cNvPr id="8" name="Text 5"/>
          <p:cNvSpPr/>
          <p:nvPr/>
        </p:nvSpPr>
        <p:spPr>
          <a:xfrm>
            <a:off x="4069080" y="15087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Medium tier + kerb permits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178040" y="1508760"/>
            <a:ext cx="4343400" cy="384048"/>
          </a:xfrm>
          <a:prstGeom prst="roundRect">
            <a:avLst>
              <a:gd name="adj" fmla="val 50000"/>
            </a:avLst>
          </a:prstGeom>
          <a:solidFill>
            <a:srgbClr val="2A3575"/>
          </a:solidFill>
          <a:ln/>
        </p:spPr>
      </p:sp>
      <p:sp>
        <p:nvSpPr>
          <p:cNvPr id="10" name="Text 7"/>
          <p:cNvSpPr/>
          <p:nvPr/>
        </p:nvSpPr>
        <p:spPr>
          <a:xfrm>
            <a:off x="7178040" y="150876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steady state: kerb fees replace fines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14400" y="3794760"/>
            <a:ext cx="1051560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133856" y="3694176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B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−22.8M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6576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" y="4023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capex: 512 fixed sites,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portable, kerb platform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017520" y="3694176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7" name="Text 14"/>
          <p:cNvSpPr/>
          <p:nvPr/>
        </p:nvSpPr>
        <p:spPr>
          <a:xfrm>
            <a:off x="2249424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D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+48.5M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249424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221992" y="4023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fines 46.8 + kerb 1.7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−4.3M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249424" y="46908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FD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+44.2M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901184" y="3694176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2" name="Text 19"/>
          <p:cNvSpPr/>
          <p:nvPr/>
        </p:nvSpPr>
        <p:spPr>
          <a:xfrm>
            <a:off x="4133088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D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+38.9M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4133088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105656" y="4023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fines 35.5 + kerb 3.4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−4.3M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133088" y="46908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FD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+34.6M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784848" y="3694176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7" name="Text 24"/>
          <p:cNvSpPr/>
          <p:nvPr/>
        </p:nvSpPr>
        <p:spPr>
          <a:xfrm>
            <a:off x="6016752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D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+31.2M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016752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989320" y="4023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fines 27.0 + kerb 4.2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−4.3M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016752" y="46908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FD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+26.9M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668512" y="3694176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32" name="Text 29"/>
          <p:cNvSpPr/>
          <p:nvPr/>
        </p:nvSpPr>
        <p:spPr>
          <a:xfrm>
            <a:off x="7900416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D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+24.8M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7900416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4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872984" y="4023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fines 20.6 + kerb 4.2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−4.3M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900416" y="46908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FD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+20.5M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0552176" y="3694176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37" name="Text 34"/>
          <p:cNvSpPr/>
          <p:nvPr/>
        </p:nvSpPr>
        <p:spPr>
          <a:xfrm>
            <a:off x="9784080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D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+19.9M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978408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9756648" y="402336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fines 15.7 + kerb 4.2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−4.3M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784080" y="46908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FD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+15.6M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1408176" y="1938528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1408176" y="19385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~ MONTH 7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2322576" y="2340864"/>
            <a:ext cx="0" cy="1362456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640080" y="521208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2A3575"/>
          </a:solidFill>
          <a:ln/>
        </p:spPr>
      </p:sp>
      <p:sp>
        <p:nvSpPr>
          <p:cNvPr id="45" name="Text 42"/>
          <p:cNvSpPr/>
          <p:nvPr/>
        </p:nvSpPr>
        <p:spPr>
          <a:xfrm>
            <a:off x="640080" y="532180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D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+119M</a:t>
            </a:r>
            <a:endParaRPr lang="en-US" sz="3000" dirty="0"/>
          </a:p>
        </p:txBody>
      </p:sp>
      <p:sp>
        <p:nvSpPr>
          <p:cNvPr id="46" name="Text 43"/>
          <p:cNvSpPr/>
          <p:nvPr/>
        </p:nvSpPr>
        <p:spPr>
          <a:xfrm>
            <a:off x="777240" y="6035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cash by end of year 5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4343400" y="521208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2A3575"/>
          </a:solidFill>
          <a:ln/>
        </p:spPr>
      </p:sp>
      <p:sp>
        <p:nvSpPr>
          <p:cNvPr id="48" name="Text 45"/>
          <p:cNvSpPr/>
          <p:nvPr/>
        </p:nvSpPr>
        <p:spPr>
          <a:xfrm>
            <a:off x="4343400" y="532180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D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+98M</a:t>
            </a:r>
            <a:endParaRPr lang="en-US" sz="3000" dirty="0"/>
          </a:p>
        </p:txBody>
      </p:sp>
      <p:sp>
        <p:nvSpPr>
          <p:cNvPr id="49" name="Text 46"/>
          <p:cNvSpPr/>
          <p:nvPr/>
        </p:nvSpPr>
        <p:spPr>
          <a:xfrm>
            <a:off x="4480560" y="6035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present value @ 7% discount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8046720" y="521208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2A3575"/>
          </a:solidFill>
          <a:ln/>
        </p:spPr>
      </p:sp>
      <p:sp>
        <p:nvSpPr>
          <p:cNvPr id="51" name="Text 48"/>
          <p:cNvSpPr/>
          <p:nvPr/>
        </p:nvSpPr>
        <p:spPr>
          <a:xfrm>
            <a:off x="8046720" y="532180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D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+0.85 pp</a:t>
            </a:r>
            <a:endParaRPr lang="en-US" sz="3000" dirty="0"/>
          </a:p>
        </p:txBody>
      </p:sp>
      <p:sp>
        <p:nvSpPr>
          <p:cNvPr id="52" name="Text 49"/>
          <p:cNvSpPr/>
          <p:nvPr/>
        </p:nvSpPr>
        <p:spPr>
          <a:xfrm>
            <a:off x="8183880" y="6035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OTP recovered — the return that compounds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tfslatest/ee99cc7d-ecc7-5ace-9c26-ca6b03a1dfd7/scratchpad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the hybrid programme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0080" y="146304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2A3575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1691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Months 0–6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21488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cameras at 112 High-tier stops + 20 portable units.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validation survey that firms Medium/Low rates.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≈ AED 4.8M.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434840" y="146304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2A3575"/>
          </a:solidFill>
          <a:ln/>
        </p:spPr>
      </p:sp>
      <p:sp>
        <p:nvSpPr>
          <p:cNvPr id="8" name="Text 5"/>
          <p:cNvSpPr/>
          <p:nvPr/>
        </p:nvSpPr>
        <p:spPr>
          <a:xfrm>
            <a:off x="4663440" y="1691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Months 6–18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21488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fixed coverage to the 400 Medium-tier stops.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layby-access permits for licensed operators.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portable fleet to 30–50. Capex ≈ AED 18M — funded by Phase 1 revenue.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0" y="146304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2A3575"/>
          </a:solidFill>
          <a:ln/>
        </p:spPr>
      </p:sp>
      <p:sp>
        <p:nvSpPr>
          <p:cNvPr id="11" name="Text 8"/>
          <p:cNvSpPr/>
          <p:nvPr/>
        </p:nvSpPr>
        <p:spPr>
          <a:xfrm>
            <a:off x="8458200" y="1691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Year 2+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58200" y="21488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pay-per-use kerb fees — the permanent revenue line.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rotation covers the Low tier and emerging hotspots.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OTP recovery; review AED 200 vs AED 500 federal fine.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0080" y="4572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FD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+98M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40080" y="5440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5-yr NPV, full programme (AED)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34840" y="4572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FD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+0.85pp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4434840" y="5440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OTP recoverable network-wide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229600" y="4572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FD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yr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8229600" y="5440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on every element deployed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Fines are the financing bridge; kerb fees are the steady state. Both decline/grow exactly as compliance improves — while OTP and safety gains compound.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tfslatest/ee99cc7d-ecc7-5ace-9c26-ca6b03a1dfd7/scratchpa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Benchmarking: Every peer city has already moved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3716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1536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— MTA ACE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6868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Bus-mounted cameras, escalating fines US$50–250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 faster buses, ~20% fewer collisions, ~30% fewer repeat violations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09360" y="13716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</p:spPr>
      </p:sp>
      <p:sp>
        <p:nvSpPr>
          <p:cNvPr id="9" name="Text 6"/>
          <p:cNvSpPr/>
          <p:nvPr/>
        </p:nvSpPr>
        <p:spPr>
          <a:xfrm>
            <a:off x="6537960" y="1536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— TfL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53796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stop clearways, CCTV-enforced 24/7, PCN £160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37960" y="23317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Near-universal kerb access; compliance underpins the iBus OTP regime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3375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5021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— LTA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68680" y="3904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Camera-equipped buses since 2008, ~S$150 fine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4297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bus-lane and stop compliance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33375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</p:spPr>
      </p:sp>
      <p:sp>
        <p:nvSpPr>
          <p:cNvPr id="17" name="Text 14"/>
          <p:cNvSpPr/>
          <p:nvPr/>
        </p:nvSpPr>
        <p:spPr>
          <a:xfrm>
            <a:off x="6537960" y="35021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Sydney — TfNSW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537960" y="3904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4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Bus-zone offence ≈ A$390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37960" y="4297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Deterrence through penalty level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539496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555955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Dubai today: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patrols only. This study models a conservative AED 200 fine — the federal schedule already allows AED 500 for stopping in a bus stop, which would scale every revenue figure ×2.5 and turn even the Low tier positive.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tfslatest/ee99cc7d-ecc7-5ace-9c26-ca6b03a1dfd7/scratchpa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Benchmarking: cities already charge for the kerb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3716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15087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Airports — SFO, LAX &amp; most large US hubs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8680" y="208483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Kerb-access fees: US$2.50–5 per pick-up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45059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Taxis, ride-hail and shuttles billed automatically via geofence/AVI — the direct template for ANPR-billed layby dwell fees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3716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</p:spPr>
      </p:sp>
      <p:sp>
        <p:nvSpPr>
          <p:cNvPr id="9" name="Text 6"/>
          <p:cNvSpPr/>
          <p:nvPr/>
        </p:nvSpPr>
        <p:spPr>
          <a:xfrm>
            <a:off x="6537960" y="15087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loading zones — Pittsburgh, LA, Columbus, Aspen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537960" y="208483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Camera-billed per-minute commercial kerb use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37960" y="245059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operators pay per minute, violators get fined — enforcement and monetization on the same sensor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3375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4747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London — Westminster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68680" y="40507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coach bays &amp; permits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44165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pay for timed use of high-demand kerb bays via permit/app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09360" y="33375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</p:spPr>
      </p:sp>
      <p:sp>
        <p:nvSpPr>
          <p:cNvPr id="17" name="Text 14"/>
          <p:cNvSpPr/>
          <p:nvPr/>
        </p:nvSpPr>
        <p:spPr>
          <a:xfrm>
            <a:off x="6537960" y="34747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 &amp; US CBDs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537960" y="40507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Ride-hail pick-up zone surcharges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37960" y="44165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Designated TNC zones carry a per-trip fee for kerb access rights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0080" y="539496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002060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555955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camera that fines illegal use bills legal use. Cities monetise scarce kerb instead of only policing it — RTA's laybys at 912 high-demand stops are exactly that asset.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tfslatest/ee99cc7d-ecc7-5ace-9c26-ca6b03a1dfd7/scratchpad/logo_d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1060704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2608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2026-08-02T20:28:38Z</dcterms:created>
  <dcterms:modified xsi:type="dcterms:W3CDTF">2026-08-02T20:28:38Z</dcterms:modified>
</cp:coreProperties>
</file>