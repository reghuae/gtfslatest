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Arial"/>
              </a:rPr>
              <a:t>Blocked-layby cases by location (07:00–10:00, single day)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Cases per stop (3h)</c:v>
                </c:pt>
              </c:strCache>
            </c:strRef>
          </c:tx>
          <c:spPr>
            <a:solidFill>
              <a:srgbClr val="3C4A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A647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Business Bay</c:v>
                  </c:pt>
                  <c:pt idx="1">
                    <c:v>Sharaf DG Metro</c:v>
                  </c:pt>
                  <c:pt idx="2">
                    <c:v>Burjuman</c:v>
                  </c:pt>
                  <c:pt idx="3">
                    <c:v>Al Jafliya</c:v>
                  </c:pt>
                  <c:pt idx="4">
                    <c:v>Naif Int.</c:v>
                  </c:pt>
                  <c:pt idx="5">
                    <c:v>Burj Nahar</c:v>
                  </c:pt>
                  <c:pt idx="6">
                    <c:v>Al Hana</c:v>
                  </c:pt>
                  <c:pt idx="7">
                    <c:v>Al Rigga</c:v>
                  </c:pt>
                  <c:pt idx="8">
                    <c:v>Salah Al Din</c:v>
                  </c:pt>
                  <c:pt idx="9">
                    <c:v>Emirates Twr</c:v>
                  </c:pt>
                  <c:pt idx="10">
                    <c:v>Al Khail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</c:v>
                </c:pt>
                <c:pt idx="1">
                  <c:v>8</c:v>
                </c:pt>
                <c:pt idx="2">
                  <c:v>7</c:v>
                </c:pt>
                <c:pt idx="3">
                  <c:v>6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4</c:v>
                </c:pt>
                <c:pt idx="9">
                  <c:v>3</c:v>
                </c:pt>
                <c:pt idx="10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A647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Arial"/>
              </a:rPr>
              <a:t>Extra late trips per year by tier (60 s per obstruction)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Extra late trips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A647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High tier</c:v>
                  </c:pt>
                  <c:pt idx="1">
                    <c:v>Medium tier</c:v>
                  </c:pt>
                  <c:pt idx="2">
                    <c:v>Low tier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11500</c:v>
                </c:pt>
                <c:pt idx="1">
                  <c:v>8500</c:v>
                </c:pt>
                <c:pt idx="2">
                  <c:v>1880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A647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Arial"/>
              </a:rPr>
              <a:t>Revenue declines 25%/yr — because deterrence is working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fine revenue (AED M)</c:v>
                </c:pt>
              </c:strCache>
            </c:strRef>
          </c:tx>
          <c:spPr>
            <a:solidFill>
              <a:srgbClr val="1E8E5A"/>
            </a:solidFill>
            <a:ln w="38100" cap="flat">
              <a:solidFill>
                <a:srgbClr val="1E8E5A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8E5A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E8E5A"/>
              </a:solidFill>
              <a:ln w="9525" cap="flat">
                <a:solidFill>
                  <a:srgbClr val="1E8E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46.5</c:v>
                </c:pt>
                <c:pt idx="1">
                  <c:v>34.8</c:v>
                </c:pt>
                <c:pt idx="2">
                  <c:v>26.1</c:v>
                </c:pt>
                <c:pt idx="3">
                  <c:v>19.6</c:v>
                </c:pt>
                <c:pt idx="4">
                  <c:v>14.7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E8E5A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Arial"/>
              </a:rPr>
              <a:t>5-year NPV by tier (AED 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5-yr NPV (AED M)</c:v>
                </c:pt>
              </c:strCache>
            </c:strRef>
          </c:tx>
          <c:spPr>
            <a:solidFill>
              <a:srgbClr val="1E8E5A">
                <a:alpha val="9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A647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8E5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8E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High</c:v>
                  </c:pt>
                  <c:pt idx="1">
                    <c:v>Medium</c:v>
                  </c:pt>
                  <c:pt idx="2">
                    <c:v>Low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56.6</c:v>
                </c:pt>
                <c:pt idx="1">
                  <c:v>22.6</c:v>
                </c:pt>
                <c:pt idx="2">
                  <c:v>-13.8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A647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Arial"/>
              </a:rPr>
              <a:t>5-yr NPV by fleet size, monthly rotation at High-tier stops (AED 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5-yr NPV (AED M)</c:v>
                </c:pt>
              </c:strCache>
            </c:strRef>
          </c:tx>
          <c:spPr>
            <a:solidFill>
              <a:srgbClr val="1E8E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A647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 units</c:v>
                  </c:pt>
                  <c:pt idx="1">
                    <c:v>30 units</c:v>
                  </c:pt>
                  <c:pt idx="2">
                    <c:v>40 units</c:v>
                  </c:pt>
                  <c:pt idx="3">
                    <c:v>50 units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8.3</c:v>
                </c:pt>
                <c:pt idx="1">
                  <c:v>12.5</c:v>
                </c:pt>
                <c:pt idx="2">
                  <c:v>16.6</c:v>
                </c:pt>
                <c:pt idx="3">
                  <c:v>20.8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A647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Reclaiming the Bus Stop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Illegal parking in bus laybys: the cost to On-Time Performance,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self-funding enforcement programme to fix it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Transport Agency  ·  Bus Performance Study  ·  July 2026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24160" y="822960"/>
            <a:ext cx="914400" cy="9144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0" y="804672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problems, one parked car</a:t>
            </a:r>
            <a:endParaRPr lang="en-US" sz="3400" dirty="0"/>
          </a:p>
        </p:txBody>
      </p:sp>
      <p:pic>
        <p:nvPicPr>
          <p:cNvPr id="3" name="Image 0" descr="/tmp/claude-0/-home-user-gtfslatest/ee99cc7d-ecc7-5ace-9c26-ca6b03a1dfd7/scratchpad/field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411480"/>
            <a:ext cx="2880360" cy="5120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732520" y="557784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photo, 28 Jul 2026: layby blocked, passengers board in the traffic lane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4950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188720" y="14813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Buses can't reach the kerb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188720" y="1920240"/>
            <a:ext cx="7223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Taxis, limousines and private cars occupy bus laybys at busy stops. The bus queues, re-approaches or stops in the running lane — every event costs 30–60+ seconds and erodes On-Time Performance in the peak, exactly when the network is tightest.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320040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318668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188720" y="31729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Passengers board in live traffic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1188720" y="361188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layby is blocked, doors open in the carriageway. Every blocked arrival is a safety and accessibility exposure — for the elderly, wheelchair users and children most of all.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4892040"/>
            <a:ext cx="7772400" cy="1325880"/>
          </a:xfrm>
          <a:prstGeom prst="roundRect">
            <a:avLst>
              <a:gd name="adj" fmla="val 5517"/>
            </a:avLst>
          </a:prstGeom>
          <a:solidFill>
            <a:srgbClr val="F4F7FC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507492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study quantifies both — </a:t>
            </a:r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field survey of 11 hotspots, one full day of AVL runtime data (75,780 stop records), and the network GTFS — and prices the fix.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evidence: one morning, 11 stops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blocked-layby cases in 3 hours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(07:00–10:00, one day)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3520440" y="14630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21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3520440" y="23957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AM-peak bus arrivals met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obstructed layby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0" y="14630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87.2%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0" y="23957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OTP that day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(38 routes, 72,679 stop events)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0" y="14630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78.7%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9144000" y="23957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 at Sharaf DG Metro —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stop, most blockages (8)</a:t>
            </a:r>
            <a:endParaRPr lang="en-US" sz="12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40080" y="3291840"/>
          <a:ext cx="7863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8778240" y="3566160"/>
            <a:ext cx="2834640" cy="2468880"/>
          </a:xfrm>
          <a:prstGeom prst="roundRect">
            <a:avLst>
              <a:gd name="adj" fmla="val 2963"/>
            </a:avLst>
          </a:prstGeom>
          <a:solidFill>
            <a:srgbClr val="F4F7FC"/>
          </a:solidFill>
          <a:ln/>
        </p:spPr>
      </p:sp>
      <p:sp>
        <p:nvSpPr>
          <p:cNvPr id="13" name="Text 10"/>
          <p:cNvSpPr/>
          <p:nvPr/>
        </p:nvSpPr>
        <p:spPr>
          <a:xfrm>
            <a:off x="9006840" y="379476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
</a:t>
            </a:r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AVL data (22 Jul 2026) confirms these stops carry 1,254 bus arrivals in the AM peak alone — and that late running already concentrates in peak hours.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Network-wide: 912 stops carry the risk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stop in the GTFS network was scored on the surveyed hotspot profile: peak bus throughput plus metro-station or mall adjacency.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772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3657600"/>
                <a:gridCol w="1188720"/>
                <a:gridCol w="10972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peak arrivals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blockages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Matches surveyed profile (metro/mall + heavy throughput) — survey-calibrated rate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182,000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400 by peak throughput — 50% of survey rate (assumption)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134,000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Following 400 — 25% of survey rate (assumption)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30,000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in 10 network stops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346,000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823960" y="19202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76%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823960" y="285292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all peak bus arrivals happen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these 912 stops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823960" y="365760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823960" y="459028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violations per stop per day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High-tier stops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non-surveyed exposures: Ibn Battuta, Union Metro, Mall of the Emirates, Gold Souq, Dubai Mall Metro.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costs the network every year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346,000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arrivals obstructed per year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(912 stops, both peaks)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343400" y="1463040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2,900 h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343400" y="239572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direct bus delay per year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(at 30 s per obstruction)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0" y="1463040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−0.85 pp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046720" y="239572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OTP lost network-wide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(30–60 s scenarios: −0.35 to −0.85)</a:t>
            </a:r>
            <a:endParaRPr lang="en-US" sz="12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3383280"/>
          <a:ext cx="58521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858000" y="3566160"/>
            <a:ext cx="4754880" cy="2377440"/>
          </a:xfrm>
          <a:prstGeom prst="roundRect">
            <a:avLst>
              <a:gd name="adj" fmla="val 3077"/>
            </a:avLst>
          </a:prstGeom>
          <a:solidFill>
            <a:srgbClr val="F4F7FC"/>
          </a:solidFill>
          <a:ln/>
        </p:spPr>
      </p:sp>
      <p:sp>
        <p:nvSpPr>
          <p:cNvPr id="11" name="Text 8"/>
          <p:cNvSpPr/>
          <p:nvPr/>
        </p:nvSpPr>
        <p:spPr>
          <a:xfrm>
            <a:off x="7086600" y="3767328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small delays matter
</a:t>
            </a:r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 counts a trip late beyond +5 minutes. The damage lands on trips already 4–5 minutes behind — 12.7% of peak stop events. A 30-second obstruction tips 1 in 38 of the trips it touches over the line; at 60 seconds, 1 in 16.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Enforcement pays: the violation-to-cash funnel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916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415,000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detectable violations / yr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77240" y="267004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 watch 24/7 — off-peak adds 20%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2004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6472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93008" y="15544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C"/>
          </a:solidFill>
          <a:ln/>
        </p:spPr>
      </p:sp>
      <p:sp>
        <p:nvSpPr>
          <p:cNvPr id="9" name="Text 7"/>
          <p:cNvSpPr/>
          <p:nvPr/>
        </p:nvSpPr>
        <p:spPr>
          <a:xfrm>
            <a:off x="3493008" y="16916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4A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290,000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630168" y="2286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tickets (70%)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630168" y="267004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 readable, stationary, de-duplicated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053328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6472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345936" y="15544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C"/>
          </a:solidFill>
          <a:ln/>
        </p:spPr>
      </p:sp>
      <p:sp>
        <p:nvSpPr>
          <p:cNvPr id="14" name="Text 12"/>
          <p:cNvSpPr/>
          <p:nvPr/>
        </p:nvSpPr>
        <p:spPr>
          <a:xfrm>
            <a:off x="6345936" y="16916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232,000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83096" y="2286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collected (80%)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83096" y="267004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AED 200 per violation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906256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A6472"/>
                </a:solidFill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198864" y="15544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C"/>
          </a:solidFill>
          <a:ln/>
        </p:spPr>
      </p:sp>
      <p:sp>
        <p:nvSpPr>
          <p:cNvPr id="19" name="Text 17"/>
          <p:cNvSpPr/>
          <p:nvPr/>
        </p:nvSpPr>
        <p:spPr>
          <a:xfrm>
            <a:off x="9198864" y="16916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46M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336024" y="2286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revenue, year 1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336024" y="267004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declining by design as deterrence works</a:t>
            </a:r>
            <a:endParaRPr lang="en-US" sz="10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40080" y="3749040"/>
          <a:ext cx="6766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Shape 20"/>
          <p:cNvSpPr/>
          <p:nvPr/>
        </p:nvSpPr>
        <p:spPr>
          <a:xfrm>
            <a:off x="7772400" y="3977640"/>
            <a:ext cx="3840480" cy="210312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</p:spPr>
      </p:sp>
      <p:sp>
        <p:nvSpPr>
          <p:cNvPr id="24" name="Text 21"/>
          <p:cNvSpPr/>
          <p:nvPr/>
        </p:nvSpPr>
        <p:spPr>
          <a:xfrm>
            <a:off x="8001000" y="420624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pitch
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finance the system in years 1–3. The permanent return is OTP recovery and the end of live-lane boarding.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— fixed cameras: invest where density pays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371600"/>
                <a:gridCol w="1371600"/>
                <a:gridCol w="10058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yr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5-yr NPV @7%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Payback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— 112 stops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AED 4.5M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AED 24.4M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8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+56.6M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 year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— 400 stops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AED 16.0M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AED 18.0M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8E5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+22.6M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 year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— 400 stops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AED 16.0M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AED 4.0M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−13.8M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640080" y="3840480"/>
          <a:ext cx="694944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7955280" y="1417320"/>
            <a:ext cx="3657600" cy="4983480"/>
          </a:xfrm>
          <a:prstGeom prst="roundRect">
            <a:avLst>
              <a:gd name="adj" fmla="val 2000"/>
            </a:avLst>
          </a:prstGeom>
          <a:solidFill>
            <a:srgbClr val="F4F7FC"/>
          </a:solidFill>
          <a:ln/>
        </p:spPr>
      </p:sp>
      <p:sp>
        <p:nvSpPr>
          <p:cNvPr id="6" name="Text 2"/>
          <p:cNvSpPr/>
          <p:nvPr/>
        </p:nvSpPr>
        <p:spPr>
          <a:xfrm>
            <a:off x="8183880" y="1645920"/>
            <a:ext cx="32004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
</a:t>
            </a:r>
            <a:pPr indent="0" marL="0">
              <a:buNone/>
            </a:pPr>
            <a:r>
              <a:rPr lang="en-US" sz="1500" b="1" dirty="0">
                <a:solidFill>
                  <a:srgbClr val="1E8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at High + Medium.
</a:t>
            </a:r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 stops · AED 20.5M capex
5-yr NPV +79.2M · payback &lt; 1 yr
</a:t>
            </a:r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Low tier's violation density is too thin to carry a fixed installation — leave it to the portable fleet.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Assumed: AED 40k/site capex, 5k/yr opex (benchmark; pre-RFP).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B — portable cameras: small capex, follows the problem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309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7406640" y="15544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406640" y="248716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violations seen per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camera per day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9601200" y="15544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3.5×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601200" y="248716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revenue vs daily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all-in cost per unit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4800600"/>
            <a:ext cx="10972800" cy="1554480"/>
          </a:xfrm>
          <a:prstGeom prst="roundRect">
            <a:avLst>
              <a:gd name="adj" fmla="val 4706"/>
            </a:avLst>
          </a:prstGeom>
          <a:solidFill>
            <a:srgbClr val="F4F7FC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498348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 per unit: </a:t>
            </a:r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AED 830/day collected vs ≈ AED 240/day cost (AED 15k capex + 60k/yr crew, vehicle, redeployment). Every fleet size is NPV-positive — value scales with units, and rotation adds a "cameras could be anywhere" deterrence halo that fixed sites lack. Trade-off: only 2–5% of stop-time covered, so OTP recovery is slower than fixed coverage.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223760" y="39776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at High-tier stops; deterrence decay 15%/yr under monthly rotation.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Recommendation: the hybrid programme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2A3575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91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Months 0–6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cameras at 112 High-tier stops + 20 portable units.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validation survey that firms Medium/Low rates.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≈ AED 4.8M.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434840" y="14630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2A3575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691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Months 6–18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663440" y="214884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 fixed coverage to the 400 Medium-tier stops.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portable fleet to 30–50 as validated data directs.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≈ AED 16M — funded by Phase 1 revenue.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0" y="14630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2A3575"/>
          </a:solidFill>
          <a:ln/>
        </p:spPr>
      </p:sp>
      <p:sp>
        <p:nvSpPr>
          <p:cNvPr id="10" name="Text 8"/>
          <p:cNvSpPr/>
          <p:nvPr/>
        </p:nvSpPr>
        <p:spPr>
          <a:xfrm>
            <a:off x="8458200" y="1691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Year 2+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458200" y="214884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 rotation covers the Low tier and emerging hotspots.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with the fines system; publish OTP recovery.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AED 200 vs AED 500 federal fine level.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FD1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+79M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5-yr NPV, fixed High+Medium (AED)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434840" y="4480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FD1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+0.85pp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434840" y="53492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OTP recoverable network-wide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29600" y="4480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FD1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 yr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229600" y="53492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on every element deployed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is the financing bridge, not the goal: it declines as compliance improves, while the OTP and safety gains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peer city has already moved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4F7FC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536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York — MTA ACE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68680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Bus-mounted cameras, escalating fines US$50–250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~5% faster buses, ~20% fewer collisions, ~30% fewer repeat violations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37160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4F7F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536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London — TfL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537960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stop clearways, CCTV-enforced 24/7, PCN £160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37960" y="23317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Near-universal kerb access; compliance underpins the iBus OTP regime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4F7F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5021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Singapore — LTA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68680" y="39044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Camera-equipped buses since 2008, ~S$150 fine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42976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 bus-lane and stop compliance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33375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4F7FC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35021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Sydney — TfNSW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537960" y="39044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Bus-zone offence ≈ A$390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37960" y="42976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Deterrence through penalty level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539496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55955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Dubai today: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patrols only. This study models a conservative AED 200 fine — the federal schedule already allows AED 500 for stopping in a bus stop, which would scale every revenue figure ×2.5 and turn even the Low tier positive.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requested today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490472"/>
            <a:ext cx="384048" cy="384048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76756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71600" y="141732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Phase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819656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AED ~5M: fixed cameras at the 112 High-tier stops plus a 20-unit portable fleet. Self-funding within year 1.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68376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62432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revenue retention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3026664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with Dubai Police / DoF how bus-stop fine revenue is shared — the single biggest swing factor in the cash ROI.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9044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89077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383133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the validation survey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423367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weeks at ~20 Medium/Low-tier stops to replace the two assumed rate multipliers with measurements.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1114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509778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503834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the enforcement RFP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54406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ANPR fixed sites + portable units + fines-system integration, structured to allow bus-mounted cameras (NYC model) as a Phase 3 extension.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study, data and adjustable financial model: repo gtfslatest · STUDY.md · parking_otp_impact_model.xlsx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2026-07-30T20:08:23Z</dcterms:created>
  <dcterms:modified xsi:type="dcterms:W3CDTF">2026-07-30T20:08:23Z</dcterms:modified>
</cp:coreProperties>
</file>