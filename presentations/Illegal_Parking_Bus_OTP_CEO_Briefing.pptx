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20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60"/>
  </p:notesMasterIdLst>
  <p:sldIdLst>
    <p:sldId id="2146847436" r:id="rId6"/>
    <p:sldId id="2146847479" r:id="rId8"/>
    <p:sldId id="2146847491" r:id="rId15"/>
    <p:sldId id="2146847548" r:id="rId9"/>
    <p:sldId id="2146847482" r:id="rId11"/>
    <p:sldId id="2146847557" r:id="rId66"/>
    <p:sldId id="2146847558" r:id="rId67"/>
    <p:sldId id="2146847559" r:id="rId68"/>
    <p:sldId id="2146847556" r:id="rId25"/>
    <p:sldId id="2146847545" r:id="rId57"/>
  </p:sldIdLst>
  <p:sldSz cx="10160000" cy="5715000"/>
  <p:notesSz cx="6858000" cy="9144000"/>
  <p:custDataLst>
    <p:tags r:id="rId6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orient="horz" pos="1560" userDrawn="1">
          <p15:clr>
            <a:srgbClr val="A4A3A4"/>
          </p15:clr>
        </p15:guide>
        <p15:guide id="3" orient="horz" pos="1344" userDrawn="1">
          <p15:clr>
            <a:srgbClr val="A4A3A4"/>
          </p15:clr>
        </p15:guide>
        <p15:guide id="4" orient="horz" pos="360" userDrawn="1">
          <p15:clr>
            <a:srgbClr val="A4A3A4"/>
          </p15:clr>
        </p15:guide>
        <p15:guide id="5" orient="horz" pos="2952" userDrawn="1">
          <p15:clr>
            <a:srgbClr val="A4A3A4"/>
          </p15:clr>
        </p15:guide>
        <p15:guide id="6" orient="horz" pos="3336" userDrawn="1">
          <p15:clr>
            <a:srgbClr val="A4A3A4"/>
          </p15:clr>
        </p15:guide>
        <p15:guide id="7" orient="horz" pos="452" userDrawn="1">
          <p15:clr>
            <a:srgbClr val="A4A3A4"/>
          </p15:clr>
        </p15:guide>
        <p15:guide id="8" orient="horz" pos="3000" userDrawn="1">
          <p15:clr>
            <a:srgbClr val="A4A3A4"/>
          </p15:clr>
        </p15:guide>
        <p15:guide id="9" orient="horz" pos="2025" userDrawn="1">
          <p15:clr>
            <a:srgbClr val="A4A3A4"/>
          </p15:clr>
        </p15:guide>
        <p15:guide id="10" orient="horz" pos="2256" userDrawn="1">
          <p15:clr>
            <a:srgbClr val="A4A3A4"/>
          </p15:clr>
        </p15:guide>
        <p15:guide id="11" orient="horz" pos="2474" userDrawn="1">
          <p15:clr>
            <a:srgbClr val="A4A3A4"/>
          </p15:clr>
        </p15:guide>
        <p15:guide id="12" orient="horz" pos="2701" userDrawn="1">
          <p15:clr>
            <a:srgbClr val="A4A3A4"/>
          </p15:clr>
        </p15:guide>
        <p15:guide id="13" orient="horz" pos="2924" userDrawn="1">
          <p15:clr>
            <a:srgbClr val="A4A3A4"/>
          </p15:clr>
        </p15:guide>
        <p15:guide id="14" orient="horz" pos="3149" userDrawn="1">
          <p15:clr>
            <a:srgbClr val="A4A3A4"/>
          </p15:clr>
        </p15:guide>
        <p15:guide id="15" orient="horz" pos="3374" userDrawn="1">
          <p15:clr>
            <a:srgbClr val="A4A3A4"/>
          </p15:clr>
        </p15:guide>
        <p15:guide id="16" pos="3200" userDrawn="1">
          <p15:clr>
            <a:srgbClr val="A4A3A4"/>
          </p15:clr>
        </p15:guide>
        <p15:guide id="17" pos="2773" userDrawn="1">
          <p15:clr>
            <a:srgbClr val="A4A3A4"/>
          </p15:clr>
        </p15:guide>
        <p15:guide id="18" pos="2404" userDrawn="1">
          <p15:clr>
            <a:srgbClr val="A4A3A4"/>
          </p15:clr>
        </p15:guide>
        <p15:guide id="19" pos="2160" userDrawn="1">
          <p15:clr>
            <a:srgbClr val="A4A3A4"/>
          </p15:clr>
        </p15:guide>
        <p15:guide id="20" pos="1608" userDrawn="1">
          <p15:clr>
            <a:srgbClr val="A4A3A4"/>
          </p15:clr>
        </p15:guide>
        <p15:guide id="21" pos="1227" userDrawn="1">
          <p15:clr>
            <a:srgbClr val="A4A3A4"/>
          </p15:clr>
        </p15:guide>
        <p15:guide id="22" pos="827" userDrawn="1">
          <p15:clr>
            <a:srgbClr val="A4A3A4"/>
          </p15:clr>
        </p15:guide>
        <p15:guide id="23" pos="5600" userDrawn="1">
          <p15:clr>
            <a:srgbClr val="A4A3A4"/>
          </p15:clr>
        </p15:guide>
        <p15:guide id="24" pos="3598" userDrawn="1">
          <p15:clr>
            <a:srgbClr val="A4A3A4"/>
          </p15:clr>
        </p15:guide>
        <p15:guide id="25" pos="3997" userDrawn="1">
          <p15:clr>
            <a:srgbClr val="A4A3A4"/>
          </p15:clr>
        </p15:guide>
        <p15:guide id="26" pos="4393" userDrawn="1">
          <p15:clr>
            <a:srgbClr val="A4A3A4"/>
          </p15:clr>
        </p15:guide>
        <p15:guide id="27" pos="4793" userDrawn="1">
          <p15:clr>
            <a:srgbClr val="A4A3A4"/>
          </p15:clr>
        </p15:guide>
        <p15:guide id="28" pos="5191" userDrawn="1">
          <p15:clr>
            <a:srgbClr val="A4A3A4"/>
          </p15:clr>
        </p15:guide>
        <p15:guide id="29" pos="5588" userDrawn="1">
          <p15:clr>
            <a:srgbClr val="A4A3A4"/>
          </p15:clr>
        </p15:guide>
        <p15:guide id="30" pos="59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C8F"/>
    <a:srgbClr val="242B23"/>
    <a:srgbClr val="EE0032"/>
    <a:srgbClr val="000099"/>
    <a:srgbClr val="F89CAF"/>
    <a:srgbClr val="FFE8AD"/>
    <a:srgbClr val="ADE6E8"/>
    <a:srgbClr val="252C24"/>
    <a:srgbClr val="777881"/>
    <a:srgbClr val="A09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6" autoAdjust="0"/>
    <p:restoredTop sz="93557" autoAdjust="0"/>
  </p:normalViewPr>
  <p:slideViewPr>
    <p:cSldViewPr snapToGrid="0" snapToObjects="1" showGuides="1">
      <p:cViewPr varScale="1">
        <p:scale>
          <a:sx n="73" d="100"/>
          <a:sy n="73" d="100"/>
        </p:scale>
        <p:origin x="952" y="48"/>
      </p:cViewPr>
      <p:guideLst>
        <p:guide orient="horz" pos="1800"/>
        <p:guide orient="horz" pos="1560"/>
        <p:guide orient="horz" pos="1344"/>
        <p:guide orient="horz" pos="360"/>
        <p:guide orient="horz" pos="2952"/>
        <p:guide orient="horz" pos="3336"/>
        <p:guide orient="horz" pos="452"/>
        <p:guide orient="horz" pos="3000"/>
        <p:guide orient="horz" pos="2025"/>
        <p:guide orient="horz" pos="2256"/>
        <p:guide orient="horz" pos="2474"/>
        <p:guide orient="horz" pos="2701"/>
        <p:guide orient="horz" pos="2924"/>
        <p:guide orient="horz" pos="3149"/>
        <p:guide orient="horz" pos="3374"/>
        <p:guide pos="3200"/>
        <p:guide pos="2773"/>
        <p:guide pos="2404"/>
        <p:guide pos="2160"/>
        <p:guide pos="1608"/>
        <p:guide pos="1227"/>
        <p:guide pos="827"/>
        <p:guide pos="5600"/>
        <p:guide pos="3598"/>
        <p:guide pos="3997"/>
        <p:guide pos="4393"/>
        <p:guide pos="4793"/>
        <p:guide pos="5191"/>
        <p:guide pos="5588"/>
        <p:guide pos="5973"/>
      </p:guideLst>
    </p:cSldViewPr>
  </p:slideViewPr>
  <p:notesTextViewPr>
    <p:cViewPr>
      <p:scale>
        <a:sx n="400" d="100"/>
        <a:sy n="4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63" Type="http://schemas.openxmlformats.org/officeDocument/2006/relationships/viewProps" Target="viewProps.xml"/><Relationship Id="rId2" Type="http://schemas.openxmlformats.org/officeDocument/2006/relationships/customXml" Target="../customXml/item2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61" Type="http://schemas.openxmlformats.org/officeDocument/2006/relationships/tags" Target="tags/tag1.xml"/><Relationship Id="rId64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7" Type="http://schemas.openxmlformats.org/officeDocument/2006/relationships/slide" Target="slides/slide52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  <Relationship Id="rId66" Type="http://schemas.openxmlformats.org/officeDocument/2006/relationships/slide" Target="slides/slide55.xml"/>
  <Relationship Id="rId67" Type="http://schemas.openxmlformats.org/officeDocument/2006/relationships/slide" Target="slides/slide56.xml"/>
  <Relationship Id="rId68" Type="http://schemas.openxmlformats.org/officeDocument/2006/relationships/slide" Target="slides/slide5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F7DCA-CB63-4907-B437-8A9214926CBA}" type="datetimeFigureOut">
              <a:rPr lang="en-GB" smtClean="0"/>
              <a:pPr/>
              <a:t>17/02/2026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52A599-2FD0-48DB-8654-436E3EF531C6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6243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3778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8903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69C2-31CE-85BD-DC4D-FB697DF60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EABD7-A5C8-0C56-219A-68892A966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0C813-7424-D968-4BD3-BB8D5EF1F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3FEDC4F-77E2-4C45-591D-6C872C2D020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CB1EE-B3B8-E3F3-D677-9A40D3ACB8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B761C-B51A-753F-4E1D-1844C50EB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353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8440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4128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FA9C-D71C-3428-0B91-B4B9EF100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0377E-59B4-820A-2CB7-35D51EA97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216FF-4724-D4B7-1511-9AB0136BD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9415F3D-AB28-51E1-1E8B-084E3B15F30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452FA-2E6A-9300-45E4-8886F24F2B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C8B8E-397F-18E1-A08B-3FF769B47D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067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52A599-2FD0-48DB-8654-436E3EF531C6}" type="slidenum">
              <a:rPr lang="en-GB" smtClean="0"/>
              <a:pPr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79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Title Slide_Red B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Title Slide_Turquoise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Title Slide_Blue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Title Slide_Green B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Title Slide_Orange BG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Title Slide_Dark Blu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1076326"/>
            <a:ext cx="8851194" cy="2493963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accent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– three</a:t>
            </a:r>
            <a:br>
              <a:rPr lang="en-US" dirty="0"/>
            </a:br>
            <a:r>
              <a:rPr lang="en-US" dirty="0"/>
              <a:t>lines for text</a:t>
            </a:r>
            <a:endParaRPr lang="en-GB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3" y="4281743"/>
            <a:ext cx="8851194" cy="36036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800" b="1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54403" y="4999039"/>
            <a:ext cx="8851194" cy="357187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two line Title Slid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214688"/>
            <a:ext cx="5080000" cy="2500312"/>
          </a:xfrm>
          <a:solidFill>
            <a:schemeClr val="accent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4404" y="1076326"/>
            <a:ext cx="8851194" cy="1781175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2 lines</a:t>
            </a:r>
            <a:endParaRPr lang="en-GB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4999038"/>
            <a:ext cx="3817056" cy="715962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0289"/>
            <a:ext cx="3792361" cy="71755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54404" y="5106927"/>
            <a:ext cx="3162652" cy="249299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two line Title Slide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214688"/>
            <a:ext cx="5080000" cy="2500312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4999038"/>
            <a:ext cx="3817056" cy="71596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54404" y="1076326"/>
            <a:ext cx="8851194" cy="1781175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2 lines</a:t>
            </a:r>
            <a:endParaRPr lang="en-GB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0289"/>
            <a:ext cx="3792361" cy="71755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9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Presentation subtitle</a:t>
            </a:r>
            <a:endParaRPr lang="en-GB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54404" y="5106927"/>
            <a:ext cx="3162652" cy="249299"/>
          </a:xfrm>
        </p:spPr>
        <p:txBody>
          <a:bodyPr lIns="0" tIns="0" rIns="0" bIns="0" anchor="b">
            <a:noAutofit/>
          </a:bodyPr>
          <a:lstStyle>
            <a:lvl1pPr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Section devider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1076326"/>
            <a:ext cx="6344710" cy="4638675"/>
          </a:xfrm>
          <a:solidFill>
            <a:schemeClr val="accent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4" y="3209924"/>
            <a:ext cx="4425596" cy="107791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Section header </a:t>
            </a:r>
            <a:br>
              <a:rPr lang="en-US" dirty="0"/>
            </a:br>
            <a:r>
              <a:rPr lang="en-US" dirty="0"/>
              <a:t>with pattern</a:t>
            </a:r>
            <a:endParaRPr lang="en-GB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552972" y="5356226"/>
            <a:ext cx="2370667" cy="358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 devider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1076326"/>
            <a:ext cx="6344710" cy="4638675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5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552972" y="5356226"/>
            <a:ext cx="2370667" cy="358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4404" y="3209924"/>
            <a:ext cx="4425596" cy="1077914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Section header </a:t>
            </a:r>
            <a:br>
              <a:rPr lang="en-US" dirty="0"/>
            </a:br>
            <a:r>
              <a:rPr lang="en-US" dirty="0"/>
              <a:t>with pattern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g text slid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654402" y="1076325"/>
            <a:ext cx="8851196" cy="3922713"/>
          </a:xfrm>
        </p:spPr>
        <p:txBody>
          <a:bodyPr t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7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Key message slide</a:t>
            </a:r>
            <a:br>
              <a:rPr lang="en-US" dirty="0"/>
            </a:br>
            <a:r>
              <a:rPr lang="en-US" dirty="0"/>
              <a:t>to be used for</a:t>
            </a:r>
            <a:br>
              <a:rPr lang="en-US" dirty="0"/>
            </a:br>
            <a:r>
              <a:rPr lang="en-US" dirty="0"/>
              <a:t>big and bold key statements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Big text slide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7552972" y="5356226"/>
            <a:ext cx="2370667" cy="358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654402" y="1076325"/>
            <a:ext cx="8851196" cy="3922713"/>
          </a:xfrm>
        </p:spPr>
        <p:txBody>
          <a:bodyPr tIns="0">
            <a:noAutofit/>
          </a:bodyPr>
          <a:lstStyle>
            <a:lvl1pPr marL="0" marR="0" indent="0" algn="l" defTabSz="914400" rtl="0" eaLnBrk="1" fontAlgn="auto" latinLnBrk="0" hangingPunct="1">
              <a:lnSpc>
                <a:spcPts val="7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Key message slide</a:t>
            </a:r>
            <a:br>
              <a:rPr lang="en-US" dirty="0"/>
            </a:br>
            <a:r>
              <a:rPr lang="en-US" dirty="0"/>
              <a:t>to be used for</a:t>
            </a:r>
            <a:br>
              <a:rPr lang="en-US" dirty="0"/>
            </a:br>
            <a:r>
              <a:rPr lang="en-US" dirty="0"/>
              <a:t>big and bold key statements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imag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3175"/>
            <a:ext cx="5080000" cy="2857500"/>
          </a:xfrm>
          <a:solidFill>
            <a:schemeClr val="accent1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60363"/>
            <a:ext cx="3792361" cy="1071563"/>
          </a:xfrm>
        </p:spPr>
        <p:txBody>
          <a:bodyPr tIns="12700">
            <a:noAutofit/>
          </a:bodyPr>
          <a:lstStyle>
            <a:lvl1pPr>
              <a:lnSpc>
                <a:spcPct val="80000"/>
              </a:lnSpc>
              <a:defRPr lang="en-GB" sz="2800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418466"/>
            <a:ext cx="2540000" cy="1439035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54404" y="1785938"/>
            <a:ext cx="1885597" cy="498598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image slid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4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4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214688"/>
            <a:ext cx="3792361" cy="973087"/>
          </a:xfrm>
        </p:spPr>
        <p:txBody>
          <a:bodyPr wrap="square"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272791"/>
            <a:ext cx="2540000" cy="1439035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54404" y="4640263"/>
            <a:ext cx="1885597" cy="498598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imag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1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214688"/>
            <a:ext cx="3792361" cy="973087"/>
          </a:xfrm>
        </p:spPr>
        <p:txBody>
          <a:bodyPr wrap="square"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image slid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016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tx2"/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3214688"/>
            <a:ext cx="3792361" cy="973087"/>
          </a:xfrm>
        </p:spPr>
        <p:txBody>
          <a:bodyPr wrap="square"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and image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wo titles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5080000" y="0"/>
            <a:ext cx="508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717551"/>
            <a:ext cx="3792361" cy="714375"/>
          </a:xfrm>
        </p:spPr>
        <p:txBody>
          <a:bodyPr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1</a:t>
            </a:r>
            <a:endParaRPr lang="en-GB" dirty="0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1877"/>
            <a:ext cx="3794124" cy="69579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 2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wo titles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/>
          <p:cNvSpPr>
            <a:spLocks noGrp="1"/>
          </p:cNvSpPr>
          <p:nvPr>
            <p:ph type="pic" sz="quarter" idx="12" hasCustomPrompt="1"/>
          </p:nvPr>
        </p:nvSpPr>
        <p:spPr>
          <a:xfrm>
            <a:off x="5080000" y="0"/>
            <a:ext cx="5080000" cy="5715000"/>
          </a:xfrm>
        </p:spPr>
        <p:txBody>
          <a:bodyPr anchor="ctr">
            <a:normAutofit/>
          </a:bodyPr>
          <a:lstStyle>
            <a:lvl1pPr algn="ctr">
              <a:buNone/>
              <a:defRPr sz="80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857500"/>
            <a:ext cx="5080000" cy="2857500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56167" y="717551"/>
            <a:ext cx="3792361" cy="714375"/>
          </a:xfrm>
        </p:spPr>
        <p:txBody>
          <a:bodyPr tIns="12700">
            <a:noAutofit/>
          </a:bodyPr>
          <a:lstStyle>
            <a:lvl1pPr>
              <a:lnSpc>
                <a:spcPct val="80000"/>
              </a:lnSpc>
              <a:defRPr lang="en-GB" dirty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1</a:t>
            </a:r>
            <a:endParaRPr lang="en-GB" dirty="0"/>
          </a:p>
        </p:txBody>
      </p:sp>
      <p:sp>
        <p:nvSpPr>
          <p:cNvPr id="1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6167" y="3571877"/>
            <a:ext cx="3794124" cy="69579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spcAft>
                <a:spcPts val="0"/>
              </a:spcAft>
              <a:buNone/>
              <a:defRPr sz="3900" b="1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 2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 slide_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080000" y="2857500"/>
            <a:ext cx="5080000" cy="2857501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5080000" y="0"/>
            <a:ext cx="5080000" cy="2857501"/>
          </a:xfrm>
          <a:solidFill>
            <a:schemeClr val="bg2"/>
          </a:solidFill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3792361" cy="100309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11473" y="717550"/>
            <a:ext cx="3792361" cy="105567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8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711473" y="1949227"/>
            <a:ext cx="3792360" cy="193899"/>
          </a:xfrm>
        </p:spPr>
        <p:txBody>
          <a:bodyPr anchor="t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4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789113"/>
            <a:ext cx="3792361" cy="35671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 slide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080000" y="2857500"/>
            <a:ext cx="5080000" cy="2857501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5080000" y="0"/>
            <a:ext cx="5080000" cy="2857501"/>
          </a:xfrm>
          <a:solidFill>
            <a:schemeClr val="tx2"/>
          </a:solidFill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3792361" cy="1003095"/>
          </a:xfrm>
        </p:spPr>
        <p:txBody>
          <a:bodyPr anchor="t">
            <a:noAutofit/>
          </a:bodyPr>
          <a:lstStyle>
            <a:lvl1pPr>
              <a:defRPr sz="2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11473" y="717550"/>
            <a:ext cx="3792361" cy="1055674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80000"/>
              </a:lnSpc>
              <a:buNone/>
              <a:defRPr sz="2800" b="1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711473" y="1949227"/>
            <a:ext cx="3792360" cy="193899"/>
          </a:xfrm>
        </p:spPr>
        <p:txBody>
          <a:bodyPr anchor="t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4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789113"/>
            <a:ext cx="3792361" cy="35671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Big quotes slide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76326"/>
            <a:ext cx="6344709" cy="4638675"/>
          </a:xfrm>
          <a:solidFill>
            <a:schemeClr val="bg2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6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570288"/>
            <a:ext cx="3183820" cy="2144712"/>
          </a:xfrm>
          <a:solidFill>
            <a:schemeClr val="bg2">
              <a:lumMod val="75000"/>
            </a:schemeClr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3522" y="1430336"/>
            <a:ext cx="5057951" cy="19333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  <p:sp>
        <p:nvSpPr>
          <p:cNvPr id="10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53523" y="3739928"/>
            <a:ext cx="2312099" cy="1357235"/>
          </a:xfrm>
        </p:spPr>
        <p:txBody>
          <a:bodyPr anchor="t" anchorCtr="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Big quotes slide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076326"/>
            <a:ext cx="6344709" cy="4638675"/>
          </a:xfrm>
          <a:solidFill>
            <a:schemeClr val="accent4"/>
          </a:solidFill>
        </p:spPr>
        <p:txBody>
          <a:bodyPr/>
          <a:lstStyle/>
          <a:p>
            <a:r>
              <a:rPr lang="en-GB" dirty="0"/>
              <a:t> </a:t>
            </a:r>
          </a:p>
        </p:txBody>
      </p:sp>
      <p:sp>
        <p:nvSpPr>
          <p:cNvPr id="6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3570288"/>
            <a:ext cx="3183820" cy="2144712"/>
          </a:xfrm>
          <a:solidFill>
            <a:schemeClr val="tx2">
              <a:lumMod val="40000"/>
              <a:lumOff val="60000"/>
            </a:schemeClr>
          </a:solidFill>
        </p:spPr>
        <p:txBody>
          <a:bodyPr anchor="t">
            <a:normAutofit/>
          </a:bodyPr>
          <a:lstStyle>
            <a:lvl1pPr algn="l">
              <a:buNone/>
              <a:defRPr sz="800" baseline="0"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3522" y="1430336"/>
            <a:ext cx="5057951" cy="1933350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“A quote can be placed here to relate to the layout”</a:t>
            </a:r>
            <a:endParaRPr lang="en-GB" dirty="0"/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653523" y="3739928"/>
            <a:ext cx="2312099" cy="1357235"/>
          </a:xfrm>
        </p:spPr>
        <p:txBody>
          <a:bodyPr anchor="t" anchorCtr="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- Name of the person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_18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431925"/>
            <a:ext cx="8851194" cy="39243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accent1"/>
                </a:solidFill>
              </a:defRPr>
            </a:lvl1pPr>
            <a:lvl2pPr marL="182563" indent="-182563">
              <a:defRPr sz="1800">
                <a:solidFill>
                  <a:schemeClr val="accent1"/>
                </a:solidFill>
              </a:defRPr>
            </a:lvl2pPr>
            <a:lvl3pPr marL="273050" indent="-180975">
              <a:defRPr sz="1800">
                <a:solidFill>
                  <a:schemeClr val="accent1"/>
                </a:solidFill>
              </a:defRPr>
            </a:lvl3pPr>
            <a:lvl4pPr marL="357188" indent="-180975">
              <a:defRPr sz="1800">
                <a:solidFill>
                  <a:schemeClr val="accent1"/>
                </a:solidFill>
              </a:defRPr>
            </a:lvl4pPr>
            <a:lvl5pPr marL="446088" indent="-176213"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_16 tex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431925"/>
            <a:ext cx="8851194" cy="392430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1"/>
                </a:solidFill>
              </a:defRPr>
            </a:lvl1pPr>
            <a:lvl2pPr marL="182563" indent="-182563">
              <a:defRPr sz="1600">
                <a:solidFill>
                  <a:schemeClr val="accent1"/>
                </a:solidFill>
              </a:defRPr>
            </a:lvl2pPr>
            <a:lvl3pPr marL="273050" indent="-180975">
              <a:defRPr sz="1600">
                <a:solidFill>
                  <a:schemeClr val="accent1"/>
                </a:solidFill>
              </a:defRPr>
            </a:lvl3pPr>
            <a:lvl4pPr marL="357188" indent="-180975">
              <a:defRPr sz="1600">
                <a:solidFill>
                  <a:schemeClr val="accent1"/>
                </a:solidFill>
              </a:defRPr>
            </a:lvl4pPr>
            <a:lvl5pPr marL="446088" indent="-176213"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and2 column content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431925"/>
            <a:ext cx="4107544" cy="39243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5398054" y="1431925"/>
            <a:ext cx="4107544" cy="39243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ext and imag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5080000" y="0"/>
            <a:ext cx="5080000" cy="5715000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8" name="Content Placeholder 10"/>
          <p:cNvSpPr>
            <a:spLocks noGrp="1"/>
          </p:cNvSpPr>
          <p:nvPr>
            <p:ph sz="quarter" idx="14" hasCustomPrompt="1"/>
          </p:nvPr>
        </p:nvSpPr>
        <p:spPr>
          <a:xfrm>
            <a:off x="654404" y="1789113"/>
            <a:ext cx="4107544" cy="3567112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  <a:lvl2pPr marL="182563" indent="-182563">
              <a:defRPr sz="1400">
                <a:solidFill>
                  <a:schemeClr val="accent1"/>
                </a:solidFill>
              </a:defRPr>
            </a:lvl2pPr>
            <a:lvl3pPr marL="273050" indent="-180975">
              <a:defRPr sz="1400">
                <a:solidFill>
                  <a:schemeClr val="accent1"/>
                </a:solidFill>
              </a:defRPr>
            </a:lvl3pPr>
            <a:lvl4pPr marL="357188" indent="-180975">
              <a:defRPr sz="1400">
                <a:solidFill>
                  <a:schemeClr val="accent1"/>
                </a:solidFill>
              </a:defRPr>
            </a:lvl4pPr>
            <a:lvl5pPr marL="446088" indent="-176213"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4107544" cy="1071563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six box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9" hasCustomPrompt="1"/>
          </p:nvPr>
        </p:nvSpPr>
        <p:spPr>
          <a:xfrm>
            <a:off x="654404" y="1789113"/>
            <a:ext cx="2976693" cy="1785938"/>
          </a:xfrm>
          <a:solidFill>
            <a:schemeClr val="accent2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 hasCustomPrompt="1"/>
          </p:nvPr>
        </p:nvSpPr>
        <p:spPr>
          <a:xfrm>
            <a:off x="3631097" y="1789113"/>
            <a:ext cx="2897806" cy="1785938"/>
          </a:xfrm>
          <a:solidFill>
            <a:schemeClr val="bg2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 hasCustomPrompt="1"/>
          </p:nvPr>
        </p:nvSpPr>
        <p:spPr>
          <a:xfrm>
            <a:off x="6528903" y="1789113"/>
            <a:ext cx="2976693" cy="1785938"/>
          </a:xfrm>
          <a:solidFill>
            <a:schemeClr val="accent1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2" hasCustomPrompt="1"/>
          </p:nvPr>
        </p:nvSpPr>
        <p:spPr>
          <a:xfrm>
            <a:off x="654405" y="3575051"/>
            <a:ext cx="2976693" cy="1781174"/>
          </a:xfrm>
          <a:solidFill>
            <a:schemeClr val="accent1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3" hasCustomPrompt="1"/>
          </p:nvPr>
        </p:nvSpPr>
        <p:spPr>
          <a:xfrm>
            <a:off x="3631098" y="3575051"/>
            <a:ext cx="2897806" cy="1781174"/>
          </a:xfrm>
          <a:solidFill>
            <a:schemeClr val="bg2">
              <a:lumMod val="60000"/>
              <a:lumOff val="4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4" hasCustomPrompt="1"/>
          </p:nvPr>
        </p:nvSpPr>
        <p:spPr>
          <a:xfrm>
            <a:off x="6528905" y="3575051"/>
            <a:ext cx="2976693" cy="1781174"/>
          </a:xfrm>
          <a:solidFill>
            <a:schemeClr val="accent2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bg1"/>
                </a:solidFill>
              </a:defRPr>
            </a:lvl1pPr>
            <a:lvl2pPr marL="182563" indent="-182563">
              <a:defRPr sz="1200">
                <a:solidFill>
                  <a:schemeClr val="bg1"/>
                </a:solidFill>
              </a:defRPr>
            </a:lvl2pPr>
            <a:lvl3pPr marL="273050" indent="-180975">
              <a:defRPr sz="1200">
                <a:solidFill>
                  <a:schemeClr val="bg1"/>
                </a:solidFill>
              </a:defRPr>
            </a:lvl3pPr>
            <a:lvl4pPr marL="357188" indent="-180975">
              <a:defRPr sz="1200">
                <a:solidFill>
                  <a:schemeClr val="bg1"/>
                </a:solidFill>
              </a:defRPr>
            </a:lvl4pPr>
            <a:lvl5pPr marL="446088" indent="-176213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six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six box slide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9" hasCustomPrompt="1"/>
          </p:nvPr>
        </p:nvSpPr>
        <p:spPr>
          <a:xfrm>
            <a:off x="654404" y="1789113"/>
            <a:ext cx="2976693" cy="1785938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 hasCustomPrompt="1"/>
          </p:nvPr>
        </p:nvSpPr>
        <p:spPr>
          <a:xfrm>
            <a:off x="3631097" y="1789113"/>
            <a:ext cx="2897806" cy="1785938"/>
          </a:xfrm>
          <a:solidFill>
            <a:schemeClr val="accent5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 hasCustomPrompt="1"/>
          </p:nvPr>
        </p:nvSpPr>
        <p:spPr>
          <a:xfrm>
            <a:off x="6528903" y="1789113"/>
            <a:ext cx="2976693" cy="1785938"/>
          </a:xfrm>
          <a:solidFill>
            <a:schemeClr val="accent5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2" hasCustomPrompt="1"/>
          </p:nvPr>
        </p:nvSpPr>
        <p:spPr>
          <a:xfrm>
            <a:off x="654405" y="3575051"/>
            <a:ext cx="2976693" cy="1781174"/>
          </a:xfrm>
          <a:solidFill>
            <a:schemeClr val="tx2">
              <a:lumMod val="40000"/>
              <a:lumOff val="6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3" hasCustomPrompt="1"/>
          </p:nvPr>
        </p:nvSpPr>
        <p:spPr>
          <a:xfrm>
            <a:off x="3631098" y="3575051"/>
            <a:ext cx="2897806" cy="1781174"/>
          </a:xfrm>
          <a:solidFill>
            <a:schemeClr val="accent3">
              <a:lumMod val="20000"/>
              <a:lumOff val="80000"/>
            </a:schemeClr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4" hasCustomPrompt="1"/>
          </p:nvPr>
        </p:nvSpPr>
        <p:spPr>
          <a:xfrm>
            <a:off x="6528905" y="3575051"/>
            <a:ext cx="2976693" cy="1781174"/>
          </a:xfrm>
          <a:solidFill>
            <a:schemeClr val="accent4"/>
          </a:solidFill>
        </p:spPr>
        <p:txBody>
          <a:bodyPr lIns="180000" tIns="180000" rIns="180000" bIns="180000">
            <a:normAutofit/>
          </a:bodyPr>
          <a:lstStyle>
            <a:lvl1pPr>
              <a:defRPr sz="1200">
                <a:solidFill>
                  <a:schemeClr val="accent1"/>
                </a:solidFill>
              </a:defRPr>
            </a:lvl1pPr>
            <a:lvl2pPr marL="182563" indent="-182563">
              <a:defRPr sz="1200">
                <a:solidFill>
                  <a:schemeClr val="accent1"/>
                </a:solidFill>
              </a:defRPr>
            </a:lvl2pPr>
            <a:lvl3pPr marL="273050" indent="-180975">
              <a:defRPr sz="1200">
                <a:solidFill>
                  <a:schemeClr val="accent1"/>
                </a:solidFill>
              </a:defRPr>
            </a:lvl3pPr>
            <a:lvl4pPr marL="357188" indent="-180975">
              <a:defRPr sz="1200">
                <a:solidFill>
                  <a:schemeClr val="accent1"/>
                </a:solidFill>
              </a:defRPr>
            </a:lvl4pPr>
            <a:lvl5pPr marL="446088" indent="-176213"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Master text styles </a:t>
            </a:r>
          </a:p>
          <a:p>
            <a:pPr lvl="1"/>
            <a:r>
              <a:rPr lang="en-US" dirty="0"/>
              <a:t>first level, Subheadings</a:t>
            </a:r>
          </a:p>
          <a:p>
            <a:pPr lvl="2"/>
            <a:r>
              <a:rPr lang="en-US" dirty="0"/>
              <a:t>Second level, body copy</a:t>
            </a:r>
          </a:p>
          <a:p>
            <a:pPr lvl="3"/>
            <a:r>
              <a:rPr lang="en-US" dirty="0"/>
              <a:t>Third level, bullets</a:t>
            </a:r>
          </a:p>
          <a:p>
            <a:pPr lvl="4"/>
            <a:r>
              <a:rPr lang="en-US" dirty="0"/>
              <a:t>Fourth level, bullet</a:t>
            </a:r>
            <a:endParaRPr lang="en-GB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and six content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able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2" hasCustomPrompt="1"/>
          </p:nvPr>
        </p:nvSpPr>
        <p:spPr>
          <a:xfrm>
            <a:off x="654403" y="1789113"/>
            <a:ext cx="8851194" cy="3567112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TABLE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Table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hart 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hart Placeholder 7"/>
          <p:cNvSpPr>
            <a:spLocks noGrp="1"/>
          </p:cNvSpPr>
          <p:nvPr>
            <p:ph type="chart" sz="quarter" idx="12" hasCustomPrompt="1"/>
          </p:nvPr>
        </p:nvSpPr>
        <p:spPr>
          <a:xfrm>
            <a:off x="654404" y="1789113"/>
            <a:ext cx="8851194" cy="3567112"/>
          </a:xfrm>
        </p:spPr>
        <p:txBody>
          <a:bodyPr anchor="ctr">
            <a:normAutofit/>
          </a:bodyPr>
          <a:lstStyle>
            <a:lvl1pPr algn="ctr">
              <a:defRPr sz="8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CHART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3513" y="166877"/>
            <a:ext cx="1096791" cy="356745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654404" y="717551"/>
            <a:ext cx="8851194" cy="358775"/>
          </a:xfrm>
        </p:spPr>
        <p:txBody>
          <a:bodyPr wrap="square">
            <a:noAutofit/>
          </a:bodyPr>
          <a:lstStyle>
            <a:lvl1pPr>
              <a:lnSpc>
                <a:spcPct val="80000"/>
              </a:lnSpc>
              <a:defRPr lang="en-US" sz="2800" baseline="0" dirty="0" smtClean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Chart slide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98500" y="5296960"/>
            <a:ext cx="2286000" cy="304271"/>
          </a:xfrm>
          <a:prstGeom prst="rect">
            <a:avLst/>
          </a:prstGeom>
        </p:spPr>
        <p:txBody>
          <a:bodyPr/>
          <a:lstStyle/>
          <a:p>
            <a:fld id="{BCBF3D6D-7D9A-4530-A537-0D6DD4DF2F35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65500" y="5296960"/>
            <a:ext cx="3429000" cy="30427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374E3-2222-408E-BAB6-4DE3AF7B8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0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hank you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2500313"/>
            <a:ext cx="8851194" cy="1066800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54404" y="5202687"/>
            <a:ext cx="4425597" cy="1423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1000" dirty="0">
                <a:solidFill>
                  <a:schemeClr val="bg1"/>
                </a:solidFill>
                <a:latin typeface="+mn-lt"/>
              </a:rPr>
              <a:t>© RTA  2022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hank you_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4403" y="2500313"/>
            <a:ext cx="8851194" cy="1066800"/>
          </a:xfrm>
        </p:spPr>
        <p:txBody>
          <a:bodyPr tIns="36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GB" sz="7200" b="1" baseline="0" smtClean="0">
                <a:solidFill>
                  <a:schemeClr val="bg1"/>
                </a:solidFill>
                <a:latin typeface="+mj-lt"/>
                <a:cs typeface="RTABeta" pitchFamily="2" charset="-78"/>
              </a:defRPr>
            </a:lvl1pPr>
          </a:lstStyle>
          <a:p>
            <a:r>
              <a:rPr lang="en-US" dirty="0"/>
              <a:t>Thank you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54404" y="5202687"/>
            <a:ext cx="4425597" cy="142347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>
              <a:lnSpc>
                <a:spcPct val="90000"/>
              </a:lnSpc>
            </a:pPr>
            <a:r>
              <a:rPr lang="en-GB" sz="1000" dirty="0">
                <a:solidFill>
                  <a:schemeClr val="bg1"/>
                </a:solidFill>
                <a:latin typeface="+mn-lt"/>
              </a:rPr>
              <a:t>© RTA  2016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14576" y="166876"/>
            <a:ext cx="1095729" cy="35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907" y="114300"/>
            <a:ext cx="8164859" cy="37907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9907" y="704205"/>
            <a:ext cx="8164859" cy="298928"/>
          </a:xfrm>
        </p:spPr>
        <p:txBody>
          <a:bodyPr wrap="square">
            <a:spAutoFit/>
          </a:bodyPr>
          <a:lstStyle>
            <a:lvl1pPr marL="0" indent="0" algn="l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73475" y="5197761"/>
            <a:ext cx="366034" cy="366033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475" y="5197761"/>
            <a:ext cx="366034" cy="325364"/>
          </a:xfrm>
          <a:prstGeom prst="rect">
            <a:avLst/>
          </a:prstGeom>
        </p:spPr>
        <p:txBody>
          <a:bodyPr anchor="ctr"/>
          <a:lstStyle>
            <a:lvl1pPr algn="ctr">
              <a:defRPr sz="105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7093" y="4812068"/>
            <a:ext cx="912907" cy="9029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0407" y="191283"/>
            <a:ext cx="1356478" cy="375953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8768973" y="79883"/>
            <a:ext cx="1327912" cy="600067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99326364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142" y="114300"/>
            <a:ext cx="8164859" cy="3790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7142" y="704205"/>
            <a:ext cx="8164859" cy="298928"/>
          </a:xfrm>
        </p:spPr>
        <p:txBody>
          <a:bodyPr wrap="square">
            <a:spAutoFit/>
          </a:bodyPr>
          <a:lstStyle>
            <a:lvl1pPr marL="0" indent="0" algn="r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73475" y="5197761"/>
            <a:ext cx="366034" cy="366033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475" y="5197761"/>
            <a:ext cx="366034" cy="325364"/>
          </a:xfrm>
          <a:prstGeom prst="rect">
            <a:avLst/>
          </a:prstGeom>
        </p:spPr>
        <p:txBody>
          <a:bodyPr anchor="ctr"/>
          <a:lstStyle>
            <a:lvl1pPr algn="ctr">
              <a:defRPr sz="105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7093" y="4812068"/>
            <a:ext cx="912907" cy="90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07869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907" y="114300"/>
            <a:ext cx="8164859" cy="379078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9907" y="704205"/>
            <a:ext cx="8164859" cy="298928"/>
          </a:xfrm>
        </p:spPr>
        <p:txBody>
          <a:bodyPr wrap="square">
            <a:spAutoFit/>
          </a:bodyPr>
          <a:lstStyle>
            <a:lvl1pPr marL="0" indent="0" algn="l">
              <a:buNone/>
              <a:defRPr sz="21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273475" y="5197761"/>
            <a:ext cx="366034" cy="366033"/>
            <a:chOff x="186858" y="6096003"/>
            <a:chExt cx="580550" cy="580549"/>
          </a:xfrm>
          <a:solidFill>
            <a:schemeClr val="bg1">
              <a:lumMod val="75000"/>
              <a:alpha val="25000"/>
            </a:schemeClr>
          </a:solidFill>
        </p:grpSpPr>
        <p:sp>
          <p:nvSpPr>
            <p:cNvPr id="7" name="Rectangle 6"/>
            <p:cNvSpPr/>
            <p:nvPr userDrawn="1"/>
          </p:nvSpPr>
          <p:spPr>
            <a:xfrm>
              <a:off x="186859" y="6096003"/>
              <a:ext cx="580549" cy="58054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1" dirty="0">
                <a:latin typeface="GeosansLight" panose="02000603020000020003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6858" y="6612049"/>
              <a:ext cx="580549" cy="645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350"/>
            </a:p>
          </p:txBody>
        </p:sp>
      </p:grp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73475" y="5197761"/>
            <a:ext cx="366034" cy="325364"/>
          </a:xfrm>
          <a:prstGeom prst="rect">
            <a:avLst/>
          </a:prstGeom>
        </p:spPr>
        <p:txBody>
          <a:bodyPr anchor="ctr"/>
          <a:lstStyle>
            <a:lvl1pPr algn="ctr">
              <a:defRPr sz="1050">
                <a:solidFill>
                  <a:srgbClr val="2F3A46"/>
                </a:solidFill>
              </a:defRPr>
            </a:lvl1pPr>
          </a:lstStyle>
          <a:p>
            <a:fld id="{F68327C5-B821-4FE9-A59A-A60D9EB59A9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47093" y="4812068"/>
            <a:ext cx="912907" cy="90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09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D7625CD-4BD3-476C-8CCB-A355E4470A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326" y="1324"/>
          <a:ext cx="1323" cy="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D7625CD-4BD3-476C-8CCB-A355E4470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26" y="1324"/>
                        <a:ext cx="1323" cy="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A7041539-0E90-4D5C-BCBC-070DE1EED00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3" y="0"/>
            <a:ext cx="132292" cy="132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marL="0" lvl="0" indent="0" algn="ctr" rtl="0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75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1 Shape Name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940996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2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EDFEA43-E2CD-4A18-93AA-FBEC2DB834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309688708"/>
              </p:ext>
            </p:extLst>
          </p:nvPr>
        </p:nvGraphicFramePr>
        <p:xfrm>
          <a:off x="1765" y="1588"/>
          <a:ext cx="176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" imgW="395" imgH="394" progId="TCLayout.ActiveDocument.1">
                  <p:embed/>
                </p:oleObj>
              </mc:Choice>
              <mc:Fallback>
                <p:oleObj name="think-cell Slide" r:id="rId40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EDFEA43-E2CD-4A18-93AA-FBEC2DB834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765" y="1588"/>
                        <a:ext cx="176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4404" y="717550"/>
            <a:ext cx="8851194" cy="379078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spAutoFit/>
          </a:bodyPr>
          <a:lstStyle/>
          <a:p>
            <a:r>
              <a:rPr lang="en-US" dirty="0"/>
              <a:t>Click here to edit Master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404" y="1789113"/>
            <a:ext cx="8851194" cy="305884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2972" y="5356226"/>
            <a:ext cx="2370667" cy="358775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600" b="0">
                <a:solidFill>
                  <a:schemeClr val="accent1"/>
                </a:solidFill>
              </a:defRPr>
            </a:lvl1pPr>
          </a:lstStyle>
          <a:p>
            <a:fld id="{1FA2DF15-5071-454C-8687-89BB3304C35E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49" r:id="rId2"/>
    <p:sldLayoutId id="2147483675" r:id="rId3"/>
    <p:sldLayoutId id="2147483677" r:id="rId4"/>
    <p:sldLayoutId id="2147483679" r:id="rId5"/>
    <p:sldLayoutId id="2147483682" r:id="rId6"/>
    <p:sldLayoutId id="2147483665" r:id="rId7"/>
    <p:sldLayoutId id="2147483689" r:id="rId8"/>
    <p:sldLayoutId id="2147483666" r:id="rId9"/>
    <p:sldLayoutId id="2147483690" r:id="rId10"/>
    <p:sldLayoutId id="2147483662" r:id="rId11"/>
    <p:sldLayoutId id="2147483703" r:id="rId12"/>
    <p:sldLayoutId id="2147483668" r:id="rId13"/>
    <p:sldLayoutId id="2147483691" r:id="rId14"/>
    <p:sldLayoutId id="2147483667" r:id="rId15"/>
    <p:sldLayoutId id="2147483693" r:id="rId16"/>
    <p:sldLayoutId id="2147483660" r:id="rId17"/>
    <p:sldLayoutId id="2147483692" r:id="rId18"/>
    <p:sldLayoutId id="2147483652" r:id="rId19"/>
    <p:sldLayoutId id="2147483694" r:id="rId20"/>
    <p:sldLayoutId id="2147483670" r:id="rId21"/>
    <p:sldLayoutId id="2147483695" r:id="rId22"/>
    <p:sldLayoutId id="2147483650" r:id="rId23"/>
    <p:sldLayoutId id="2147483673" r:id="rId24"/>
    <p:sldLayoutId id="2147483674" r:id="rId25"/>
    <p:sldLayoutId id="2147483669" r:id="rId26"/>
    <p:sldLayoutId id="2147483671" r:id="rId27"/>
    <p:sldLayoutId id="2147483700" r:id="rId28"/>
    <p:sldLayoutId id="2147483663" r:id="rId29"/>
    <p:sldLayoutId id="2147483664" r:id="rId30"/>
    <p:sldLayoutId id="2147483706" r:id="rId31"/>
    <p:sldLayoutId id="2147483704" r:id="rId32"/>
    <p:sldLayoutId id="2147483705" r:id="rId33"/>
    <p:sldLayoutId id="2147483721" r:id="rId34"/>
    <p:sldLayoutId id="2147483722" r:id="rId35"/>
    <p:sldLayoutId id="2147483723" r:id="rId36"/>
    <p:sldLayoutId id="2147483724" r:id="rId37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n-US" sz="2800" b="1" kern="120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Font typeface="Arial" pitchFamily="34" charset="0"/>
        <a:buNone/>
        <a:defRPr sz="1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179388" indent="-179388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360363" indent="-180975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536575" indent="-180975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717550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200"/>
        </a:spcAft>
        <a:buSzPct val="80000"/>
        <a:buFont typeface="Wingdings" pitchFamily="2" charset="2"/>
        <a:buChar char="§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rtaueveabpmapp1.rta.global/rtapublisher/pages/ee36f0f65ad27f26.htm" TargetMode="External"/><Relationship Id="rId3" Type="http://schemas.openxmlformats.org/officeDocument/2006/relationships/hyperlink" Target="https://rtaueveabpmapp1.rta.global/rtapublisher/pages/6ac485f05ad41495.htm" TargetMode="External"/><Relationship Id="rId7" Type="http://schemas.openxmlformats.org/officeDocument/2006/relationships/hyperlink" Target="https://rtaueveabpmapp1.rta.global/rtapublisher/pages/eb9f16825acf6180.htm" TargetMode="Externa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rtaueveabpmapp1.rta.global/rtapublisher/pages/eb9f037e5acf4b35.htm" TargetMode="External"/><Relationship Id="rId11" Type="http://schemas.openxmlformats.org/officeDocument/2006/relationships/image" Target="../media/image12.png"/><Relationship Id="rId5" Type="http://schemas.openxmlformats.org/officeDocument/2006/relationships/hyperlink" Target="https://rtaueveabpmapp1.rta.global/rtapublisher/pages/d56b28715ad3bcdc.htm" TargetMode="External"/><Relationship Id="rId10" Type="http://schemas.openxmlformats.org/officeDocument/2006/relationships/image" Target="../media/image11.png"/><Relationship Id="rId4" Type="http://schemas.openxmlformats.org/officeDocument/2006/relationships/hyperlink" Target="https://rtaueveabpmapp1.rta.global/rtapublisher/pages/d56b54485ad3e474.htm" TargetMode="External"/><Relationship Id="rId9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3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5BB5-BE61-4C50-870F-698CB29067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Illegal Parking at Bus Stops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A75555-A27C-4F37-9263-4D8C684414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Impact on On-Time Performance | CEO Executive Briefing</a:t>
            </a:r>
            <a:endParaRPr lang="en-A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912D4-0961-49C0-98DA-3373642FA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July 2026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10619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AD159A7-4B7E-E7EE-3ED2-C1DF3B21A4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FDEC04-AA75-055F-BB40-38B833DBF9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The Illegal Parking Study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7A7AD3-54FF-87E6-4843-D955203D23B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586AA5D-B045-38A0-B229-A54A17E307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4967C2-183C-0CD8-6BA5-4CAF4D81AA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C5B98-8A7A-0CD3-8060-D8419E5E650B}"/>
              </a:ext>
            </a:extLst>
          </p:cNvPr>
          <p:cNvSpPr txBox="1"/>
          <p:nvPr/>
        </p:nvSpPr>
        <p:spPr>
          <a:xfrm>
            <a:off x="5421458" y="3279921"/>
            <a:ext cx="42548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The evidence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OTP impact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Network-wide scale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AE" dirty="0">
              <a:solidFill>
                <a:schemeClr val="bg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AE" dirty="0">
                <a:solidFill>
                  <a:schemeClr val="bg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Benchmarking &amp; actions</a:t>
            </a:r>
          </a:p>
        </p:txBody>
      </p:sp>
    </p:spTree>
    <p:extLst>
      <p:ext uri="{BB962C8B-B14F-4D97-AF65-F5344CB8AC3E}">
        <p14:creationId xmlns:p14="http://schemas.microsoft.com/office/powerpoint/2010/main" val="194049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5E6E9-571A-6CD3-5809-43E4CD8BB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2AC7-6553-CE38-EEE7-E9D0F8DF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The Study in Numbers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5E6899-EB5E-0412-DF92-E96097DCA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CBD851-373D-B430-41BC-021D3F79479B}"/>
              </a:ext>
            </a:extLst>
          </p:cNvPr>
          <p:cNvSpPr/>
          <p:nvPr/>
        </p:nvSpPr>
        <p:spPr>
          <a:xfrm>
            <a:off x="494148" y="661891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4B899F-7760-7FCE-D597-91DC3DECF863}"/>
              </a:ext>
            </a:extLst>
          </p:cNvPr>
          <p:cNvSpPr txBox="1"/>
          <p:nvPr/>
        </p:nvSpPr>
        <p:spPr>
          <a:xfrm>
            <a:off x="1286107" y="738544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60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029392-5481-167B-A2F5-86DEE44C85EC}"/>
              </a:ext>
            </a:extLst>
          </p:cNvPr>
          <p:cNvSpPr txBox="1"/>
          <p:nvPr/>
        </p:nvSpPr>
        <p:spPr>
          <a:xfrm>
            <a:off x="1189314" y="1310352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Cases (3 h)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416874-FC5E-0388-8217-3C7CA4B6433C}"/>
              </a:ext>
            </a:extLst>
          </p:cNvPr>
          <p:cNvSpPr/>
          <p:nvPr/>
        </p:nvSpPr>
        <p:spPr>
          <a:xfrm>
            <a:off x="2852989" y="661891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EAE58-AFC4-60F4-821D-ECF87547255A}"/>
              </a:ext>
            </a:extLst>
          </p:cNvPr>
          <p:cNvSpPr txBox="1"/>
          <p:nvPr/>
        </p:nvSpPr>
        <p:spPr>
          <a:xfrm>
            <a:off x="3644948" y="738544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11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B25298-A340-F18B-248B-8C7EF34B6146}"/>
              </a:ext>
            </a:extLst>
          </p:cNvPr>
          <p:cNvSpPr txBox="1"/>
          <p:nvPr/>
        </p:nvSpPr>
        <p:spPr>
          <a:xfrm>
            <a:off x="3548155" y="1310352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Locations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19239AA-0CB7-FC53-2725-EDFC79AFD750}"/>
              </a:ext>
            </a:extLst>
          </p:cNvPr>
          <p:cNvSpPr/>
          <p:nvPr/>
        </p:nvSpPr>
        <p:spPr>
          <a:xfrm>
            <a:off x="5208531" y="644508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62167E-102E-8900-FF23-94DE2915D3B4}"/>
              </a:ext>
            </a:extLst>
          </p:cNvPr>
          <p:cNvSpPr txBox="1"/>
          <p:nvPr/>
        </p:nvSpPr>
        <p:spPr>
          <a:xfrm>
            <a:off x="6000490" y="721161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1/21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28897D-3C9B-884E-21D0-49211B81B900}"/>
              </a:ext>
            </a:extLst>
          </p:cNvPr>
          <p:cNvSpPr txBox="1"/>
          <p:nvPr/>
        </p:nvSpPr>
        <p:spPr>
          <a:xfrm>
            <a:off x="5903697" y="1292969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of AM buses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C0938D-E059-0B60-40AE-06F6653773AD}"/>
              </a:ext>
            </a:extLst>
          </p:cNvPr>
          <p:cNvSpPr/>
          <p:nvPr/>
        </p:nvSpPr>
        <p:spPr>
          <a:xfrm>
            <a:off x="7564073" y="644508"/>
            <a:ext cx="2189579" cy="98206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7CC44B-54F1-A718-80B7-52F2E6647A73}"/>
              </a:ext>
            </a:extLst>
          </p:cNvPr>
          <p:cNvSpPr txBox="1"/>
          <p:nvPr/>
        </p:nvSpPr>
        <p:spPr>
          <a:xfrm>
            <a:off x="8356032" y="721161"/>
            <a:ext cx="1397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30K</a:t>
            </a:r>
            <a:endParaRPr lang="en-AE" sz="3200" b="1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5032E5-6C72-C9B2-36B8-75B4068B80E6}"/>
              </a:ext>
            </a:extLst>
          </p:cNvPr>
          <p:cNvSpPr txBox="1"/>
          <p:nvPr/>
        </p:nvSpPr>
        <p:spPr>
          <a:xfrm>
            <a:off x="8259239" y="1292969"/>
            <a:ext cx="1566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/>
                </a:solidFill>
              </a:rPr>
              <a:t>Cases/year</a:t>
            </a:r>
            <a:endParaRPr lang="en-AE" sz="1400" dirty="0">
              <a:solidFill>
                <a:schemeClr val="accent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F06BD9-7FA2-5A9E-47A8-0C054870F615}"/>
              </a:ext>
            </a:extLst>
          </p:cNvPr>
          <p:cNvSpPr/>
          <p:nvPr/>
        </p:nvSpPr>
        <p:spPr>
          <a:xfrm>
            <a:off x="494149" y="3158470"/>
            <a:ext cx="3150800" cy="2263610"/>
          </a:xfrm>
          <a:prstGeom prst="roundRect">
            <a:avLst>
              <a:gd name="adj" fmla="val 22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E"/>
          </a:p>
        </p:txBody>
        <p:txBody>
          <a:bodyPr rtlCol="0" anchor="ctr"/>
          <a:lstStyle/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One weekday, 07:00–10:00 AM peak</a:t>
            </a:r>
          </a:p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11 high-demand stops citywide</a:t>
            </a:r>
          </a:p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60 blocked-layby cases recorded</a:t>
            </a:r>
          </a:p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Photo evidence of live-lane boarding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FD8C6B-2EF3-70A8-2D03-739057D8F113}"/>
              </a:ext>
            </a:extLst>
          </p:cNvPr>
          <p:cNvSpPr/>
          <p:nvPr/>
        </p:nvSpPr>
        <p:spPr>
          <a:xfrm>
            <a:off x="494148" y="3158470"/>
            <a:ext cx="3150800" cy="469271"/>
          </a:xfrm>
          <a:prstGeom prst="roundRect">
            <a:avLst>
              <a:gd name="adj" fmla="val 1356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Field Survey: 11 Sites</a:t>
            </a:r>
            <a:endParaRPr lang="en-AE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E6CFA9-EEF2-4245-CB99-3395345230A8}"/>
              </a:ext>
            </a:extLst>
          </p:cNvPr>
          <p:cNvSpPr/>
          <p:nvPr/>
        </p:nvSpPr>
        <p:spPr>
          <a:xfrm>
            <a:off x="3804851" y="3166098"/>
            <a:ext cx="3150800" cy="2264853"/>
          </a:xfrm>
          <a:prstGeom prst="roundRect">
            <a:avLst>
              <a:gd name="adj" fmla="val 22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</a:p>
          <a:p>
            <a:pPr algn="ctr"/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Match surveyed sites to AVL stops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Count peak bus exposure (AM + PM)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Baseline OTP from AVL records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Flip probability: on-time to late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Annualise: 60 × (1 + PM) × 261 days</a:t>
            </a:r>
            <a:b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</a:b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 </a:t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Tier all 2,873 GTFS stops by risk</a:t>
            </a:r>
            <a:endParaRPr lang="en-AE" sz="1050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3C36924-DCBE-7528-AA6E-1D0D61BAEC06}"/>
              </a:ext>
            </a:extLst>
          </p:cNvPr>
          <p:cNvSpPr/>
          <p:nvPr/>
        </p:nvSpPr>
        <p:spPr>
          <a:xfrm>
            <a:off x="3804850" y="3166098"/>
            <a:ext cx="3150800" cy="358775"/>
          </a:xfrm>
          <a:prstGeom prst="roundRect">
            <a:avLst>
              <a:gd name="adj" fmla="val 1356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Method: 6 Steps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E6063540-90C2-8E76-11F1-6391680FB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2373313"/>
            <a:ext cx="10160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1667DC-0113-1EBC-378E-8641A818E08B}"/>
              </a:ext>
            </a:extLst>
          </p:cNvPr>
          <p:cNvSpPr/>
          <p:nvPr/>
        </p:nvSpPr>
        <p:spPr>
          <a:xfrm>
            <a:off x="494149" y="1971780"/>
            <a:ext cx="2189579" cy="78700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38 Routes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F2C25A-A842-7393-52F1-FD880BA987A4}"/>
              </a:ext>
            </a:extLst>
          </p:cNvPr>
          <p:cNvSpPr/>
          <p:nvPr/>
        </p:nvSpPr>
        <p:spPr>
          <a:xfrm>
            <a:off x="2852988" y="1961487"/>
            <a:ext cx="2189579" cy="78700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75,780 AVL Records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5E12966-7071-5CD2-7F84-11D6D57B9600}"/>
              </a:ext>
            </a:extLst>
          </p:cNvPr>
          <p:cNvSpPr/>
          <p:nvPr/>
        </p:nvSpPr>
        <p:spPr>
          <a:xfrm>
            <a:off x="5281001" y="1971780"/>
            <a:ext cx="2117110" cy="787001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2,999 Trips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1CB402-93DB-B11D-994D-72D4144ED5C7}"/>
              </a:ext>
            </a:extLst>
          </p:cNvPr>
          <p:cNvSpPr/>
          <p:nvPr/>
        </p:nvSpPr>
        <p:spPr>
          <a:xfrm>
            <a:off x="7585778" y="1954397"/>
            <a:ext cx="2189579" cy="804384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826 Stops</a:t>
            </a:r>
            <a:endParaRPr lang="en-AE" dirty="0">
              <a:solidFill>
                <a:schemeClr val="accent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3F3DE4F-A07A-AE43-D963-C79204445C29}"/>
              </a:ext>
            </a:extLst>
          </p:cNvPr>
          <p:cNvSpPr/>
          <p:nvPr/>
        </p:nvSpPr>
        <p:spPr>
          <a:xfrm>
            <a:off x="7115553" y="3177697"/>
            <a:ext cx="2808086" cy="2264853"/>
          </a:xfrm>
          <a:prstGeom prst="roundRect">
            <a:avLst>
              <a:gd name="adj" fmla="val 2211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30 s average blockage per case</a:t>
            </a:r>
            <a:r>
              <a:rPr lang="en-US" sz="1100" dirty="0" err="1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/>
            </a:r>
          </a:p>
          <a:p>
            <a:pPr marL="228600" indent="-228600" algn="ctr">
              <a:buAutoNum type="arabicPeriod"/>
            </a:pPr>
            <a:r>
              <a:rPr lang="en-US" sz="110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OTP window: −1 min to +5 min</a:t>
            </a:r>
          </a:p>
          <a:p>
            <a:pPr marL="228600" indent="-228600" algn="ctr">
              <a:buAutoNum type="arabicPeriod"/>
            </a:pPr>
            <a:endParaRPr lang="en-AE" sz="1100" dirty="0">
              <a:solidFill>
                <a:schemeClr val="accent1"/>
              </a:solidFill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65C10C3-17B6-B9D9-04B1-8D9730D4C2AD}"/>
              </a:ext>
            </a:extLst>
          </p:cNvPr>
          <p:cNvSpPr/>
          <p:nvPr/>
        </p:nvSpPr>
        <p:spPr>
          <a:xfrm>
            <a:off x="7115552" y="3177697"/>
            <a:ext cx="2808086" cy="358775"/>
          </a:xfrm>
          <a:prstGeom prst="roundRect">
            <a:avLst>
              <a:gd name="adj" fmla="val 13564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Parameters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026" name="Picture 2" descr="Bus Station Icon Vector Art, Icons, and Graphics for Free ...">
            <a:extLst>
              <a:ext uri="{FF2B5EF4-FFF2-40B4-BE49-F238E27FC236}">
                <a16:creationId xmlns:a16="http://schemas.microsoft.com/office/drawing/2014/main" id="{CE20CB7F-D97A-233F-9BD2-A92955590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76" y="535625"/>
            <a:ext cx="1141346" cy="114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BD5E45-52EB-B1E1-A1FC-913E25FDEA64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05012" y="783754"/>
            <a:ext cx="652431" cy="6524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4BF7AF-D309-DFB2-26BD-C86BCAE7EA1A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39757" y="730211"/>
            <a:ext cx="736405" cy="7364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D717D9-B414-00C4-8DBD-B529C0DD575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79056" y="753418"/>
            <a:ext cx="729343" cy="7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11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E032D-6B35-4621-179B-74197894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E664A19-B06E-3CDA-6271-D2AE9089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sz="2400" dirty="0">
                <a:latin typeface="Dubai" panose="020B0503030403030204" pitchFamily="34" charset="-78"/>
                <a:cs typeface="Dubai" panose="020B0503030403030204" pitchFamily="34" charset="-78"/>
              </a:rPr>
              <a:t>The Evidence: 11 Locations Surveyed</a:t>
            </a:r>
            <a:endParaRPr lang="en-AE" sz="2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2CA059-1C56-4EB1-6B90-91801F84A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19937"/>
              </p:ext>
            </p:extLst>
          </p:nvPr>
        </p:nvGraphicFramePr>
        <p:xfrm>
          <a:off x="494146" y="603316"/>
          <a:ext cx="8574439" cy="429353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85555">
                  <a:extLst>
                    <a:ext uri="{9D8B030D-6E8A-4147-A177-3AD203B41FA5}">
                      <a16:colId xmlns:a16="http://schemas.microsoft.com/office/drawing/2014/main" val="236223597"/>
                    </a:ext>
                  </a:extLst>
                </a:gridCol>
                <a:gridCol w="1404726">
                  <a:extLst>
                    <a:ext uri="{9D8B030D-6E8A-4147-A177-3AD203B41FA5}">
                      <a16:colId xmlns:a16="http://schemas.microsoft.com/office/drawing/2014/main" val="1775622447"/>
                    </a:ext>
                  </a:extLst>
                </a:gridCol>
                <a:gridCol w="4884158">
                  <a:extLst>
                    <a:ext uri="{9D8B030D-6E8A-4147-A177-3AD203B41FA5}">
                      <a16:colId xmlns:a16="http://schemas.microsoft.com/office/drawing/2014/main" val="402701859"/>
                    </a:ext>
                  </a:extLst>
                </a:gridCol>
              </a:tblGrid>
              <a:tr h="2567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Location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Cases (3 h)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What the Data Shows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947880673"/>
                  </a:ext>
                </a:extLst>
              </a:tr>
              <a:tr h="608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Business Bay (all stops)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Highest count of the survey; 9.8 cases per 100 AM buses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906149682"/>
                  </a:ext>
                </a:extLst>
              </a:tr>
              <a:tr h="9117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Sharaf DG Metro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8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Worst OTP of the eleven: 78.7% vs 87.2% network average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207692108"/>
                  </a:ext>
                </a:extLst>
              </a:tr>
              <a:tr h="6860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Burjuman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7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9.1 cases per 100 AM buses at a 26-bus-per-hour stop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02589019"/>
                  </a:ext>
                </a:extLst>
              </a:tr>
              <a:tr h="7599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 Jafliya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6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Most intense: 13.3 cases per 100 AM buses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635003472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Naif &amp; Burj Nahar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5 + 5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Busiest corridor (65 buses/h each); routes 10/13A hit repeatedly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538957344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Five further sites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19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Al Rigga (16.1 per 100 — highest rate), Salah Al Din, Al Hana, Emirates Tower, Al Khail Mall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51114281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D3B424A-A1C1-48D8-0EE5-32CBB2D30EC1}"/>
              </a:ext>
            </a:extLst>
          </p:cNvPr>
          <p:cNvSpPr/>
          <p:nvPr/>
        </p:nvSpPr>
        <p:spPr>
          <a:xfrm>
            <a:off x="494146" y="4896848"/>
            <a:ext cx="8574437" cy="728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60 blocked laybys in 3 hours — </a:t>
            </a:r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1 in 21 AM-peak arrivals obstructed</a:t>
            </a:r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 </a:t>
            </a:r>
            <a:endParaRPr lang="en-AE" b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83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7D41F4-117C-416D-8662-53ED7BB8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DEB0EB-8E7A-01BA-1140-600E257A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>Executive Summary</a:t>
            </a:r>
            <a:endParaRPr lang="en-AE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1ED52B-5D64-5B51-C0A0-4500D1A9F4CA}"/>
              </a:ext>
            </a:extLst>
          </p:cNvPr>
          <p:cNvSpPr/>
          <p:nvPr/>
        </p:nvSpPr>
        <p:spPr>
          <a:xfrm>
            <a:off x="582081" y="1689100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60 blocked laybys in 3 hours at 11 busy stops — 1 in 21 AM-peak bus arrivals met an obstructed layby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C944CA-2708-D84A-AAEB-0B3B4F8467CC}"/>
              </a:ext>
            </a:extLst>
          </p:cNvPr>
          <p:cNvSpPr/>
          <p:nvPr/>
        </p:nvSpPr>
        <p:spPr>
          <a:xfrm>
            <a:off x="3581399" y="1689100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≈30,000 obstructed bus arrivals per year at the 11 surveyed locations alone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A5499-CC7B-357C-365F-F63F6655AC3A}"/>
              </a:ext>
            </a:extLst>
          </p:cNvPr>
          <p:cNvSpPr/>
          <p:nvPr/>
        </p:nvSpPr>
        <p:spPr>
          <a:xfrm>
            <a:off x="6580717" y="1689100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Up to −0.7 pp on-time performance loss on affected peak trips at 60 s delay per obstruction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367858-2976-221C-CB55-EBAFF060F515}"/>
              </a:ext>
            </a:extLst>
          </p:cNvPr>
          <p:cNvSpPr/>
          <p:nvPr/>
        </p:nvSpPr>
        <p:spPr>
          <a:xfrm>
            <a:off x="620185" y="4069558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Network-wide: ≈346,000 blockage events per year across 912 stops — ≈2,900 bus-hours of delay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4F90F4-F89F-7B0C-8087-26CF574B8194}"/>
              </a:ext>
            </a:extLst>
          </p:cNvPr>
          <p:cNvSpPr/>
          <p:nvPr/>
        </p:nvSpPr>
        <p:spPr>
          <a:xfrm>
            <a:off x="3600450" y="4069558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Safety risk: passengers board and alight in the live traffic lane when the layby is blocked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7D4D00-8894-EF63-EBE3-A90ECA68ED12}"/>
              </a:ext>
            </a:extLst>
          </p:cNvPr>
          <p:cNvSpPr/>
          <p:nvPr/>
        </p:nvSpPr>
        <p:spPr>
          <a:xfrm>
            <a:off x="6580717" y="4069558"/>
            <a:ext cx="2523067" cy="1168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Dubai" panose="020B0503030403030204" pitchFamily="34" charset="-78"/>
                <a:cs typeface="Dubai" panose="020B0503030403030204" pitchFamily="34" charset="-78"/>
              </a:rPr>
              <a:t>New York, London and Singapore fixed this with automated camera enforcement</a:t>
            </a:r>
            <a:endParaRPr lang="en-AE" sz="1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pic>
        <p:nvPicPr>
          <p:cNvPr id="13314" name="Picture 2" descr="Kpi icon vector image can be used for action plan | Premium ...">
            <a:extLst>
              <a:ext uri="{FF2B5EF4-FFF2-40B4-BE49-F238E27FC236}">
                <a16:creationId xmlns:a16="http://schemas.microsoft.com/office/drawing/2014/main" id="{15F25F7F-9759-5642-3D64-B43867626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532" y="807245"/>
            <a:ext cx="792163" cy="792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Maturity Icon Vector Art, Icons, and Graphics for Free Download">
            <a:extLst>
              <a:ext uri="{FF2B5EF4-FFF2-40B4-BE49-F238E27FC236}">
                <a16:creationId xmlns:a16="http://schemas.microsoft.com/office/drawing/2014/main" id="{4B50EB8A-2A9E-076D-F9EE-184E7165B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927" y="970011"/>
            <a:ext cx="926436" cy="617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Standardisation Line Icon 14730449 Vector Art at Vecteezy">
            <a:extLst>
              <a:ext uri="{FF2B5EF4-FFF2-40B4-BE49-F238E27FC236}">
                <a16:creationId xmlns:a16="http://schemas.microsoft.com/office/drawing/2014/main" id="{FBA86783-D1AF-5704-AC78-D6E4F744D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667" y="875508"/>
            <a:ext cx="723900" cy="72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95+ Thousand Operations Management Icon Royalty-Free Images, Stock Photos &amp;  Pictures | Shutterstock">
            <a:extLst>
              <a:ext uri="{FF2B5EF4-FFF2-40B4-BE49-F238E27FC236}">
                <a16:creationId xmlns:a16="http://schemas.microsoft.com/office/drawing/2014/main" id="{4BF74128-5549-EF61-1D42-29E5D4128B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71"/>
          <a:stretch/>
        </p:blipFill>
        <p:spPr bwMode="auto">
          <a:xfrm>
            <a:off x="1447532" y="3098801"/>
            <a:ext cx="930459" cy="909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Quality Service Icons - Free SVG &amp; PNG Quality Service ...">
            <a:extLst>
              <a:ext uri="{FF2B5EF4-FFF2-40B4-BE49-F238E27FC236}">
                <a16:creationId xmlns:a16="http://schemas.microsoft.com/office/drawing/2014/main" id="{4F65834E-BA1A-5E2A-543B-2CDC3CE7D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225" y="3281363"/>
            <a:ext cx="719137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 descr="Team of some employees icon vector. Teamwork illustration ...">
            <a:extLst>
              <a:ext uri="{FF2B5EF4-FFF2-40B4-BE49-F238E27FC236}">
                <a16:creationId xmlns:a16="http://schemas.microsoft.com/office/drawing/2014/main" id="{8C1A357C-6235-E0D7-6FFF-0518FF30A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667" y="3236123"/>
            <a:ext cx="715167" cy="715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429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A98F1-0259-9F1B-69CE-752C7872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itle 1">
            <a:extLst>
              <a:ext uri="{FF2B5EF4-FFF2-40B4-BE49-F238E27FC236}">
                <a16:creationId xmlns:a16="http://schemas.microsoft.com/office/drawing/2014/main" id="{CF02C4EB-C656-BDD0-3A36-19A08A26AD62}"/>
              </a:ext>
            </a:extLst>
          </p:cNvPr>
          <p:cNvSpPr txBox="1">
            <a:spLocks/>
          </p:cNvSpPr>
          <p:nvPr/>
        </p:nvSpPr>
        <p:spPr>
          <a:xfrm>
            <a:off x="346396" y="109987"/>
            <a:ext cx="8851194" cy="358775"/>
          </a:xfrm>
          <a:prstGeom prst="rect">
            <a:avLst/>
          </a:prstGeom>
        </p:spPr>
        <p:txBody>
          <a:bodyPr vert="horz" wrap="square" lIns="0" tIns="1270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2800" b="1" kern="12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Recommendations</a:t>
            </a:r>
          </a:p>
        </p:txBody>
      </p:sp>
      <p:pic>
        <p:nvPicPr>
          <p:cNvPr id="1026" name="Picture 2" descr="Goals or business target infographic concept for slide presentation with  vertical stack shape balance 3 point list with flat style vector  illustration | Free Vector">
            <a:extLst>
              <a:ext uri="{FF2B5EF4-FFF2-40B4-BE49-F238E27FC236}">
                <a16:creationId xmlns:a16="http://schemas.microsoft.com/office/drawing/2014/main" id="{B4765C5A-B812-D483-6626-E4AD442874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AF8"/>
              </a:clrFrom>
              <a:clrTo>
                <a:srgbClr val="FA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3" r="45667" b="63688"/>
          <a:stretch/>
        </p:blipFill>
        <p:spPr bwMode="auto">
          <a:xfrm>
            <a:off x="182790" y="714103"/>
            <a:ext cx="3239679" cy="15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B56E4C-11F0-40FA-4815-2F65585525D5}"/>
              </a:ext>
            </a:extLst>
          </p:cNvPr>
          <p:cNvSpPr txBox="1"/>
          <p:nvPr/>
        </p:nvSpPr>
        <p:spPr>
          <a:xfrm>
            <a:off x="3570515" y="990043"/>
            <a:ext cx="5939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Enforce: Automated Cameras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Pilot bus-mounted or pole-mounted cameras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Start at the 5 worst sites: Sharaf DG, Business Bay, Burjuman, Naif, Burj Nahar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Focus on high-frequency corridors 10 / 13A / C01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Measure OTP before/after — this study is the baseline</a:t>
            </a:r>
          </a:p>
        </p:txBody>
      </p:sp>
      <p:pic>
        <p:nvPicPr>
          <p:cNvPr id="12" name="Picture 2" descr="Goals or business target infographic concept for slide presentation with  vertical stack shape balance 3 point list with flat style vector  illustration | Free Vector">
            <a:extLst>
              <a:ext uri="{FF2B5EF4-FFF2-40B4-BE49-F238E27FC236}">
                <a16:creationId xmlns:a16="http://schemas.microsoft.com/office/drawing/2014/main" id="{5323EC4D-10B5-1D7B-7996-11180C7F7F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AF8"/>
              </a:clrFrom>
              <a:clrTo>
                <a:srgbClr val="FA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3" r="45667" b="63688"/>
          <a:stretch/>
        </p:blipFill>
        <p:spPr bwMode="auto">
          <a:xfrm>
            <a:off x="182790" y="2281647"/>
            <a:ext cx="3239679" cy="15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DEB06F-7357-CF78-6A33-A0C783CD1700}"/>
              </a:ext>
            </a:extLst>
          </p:cNvPr>
          <p:cNvSpPr txBox="1"/>
          <p:nvPr/>
        </p:nvSpPr>
        <p:spPr>
          <a:xfrm>
            <a:off x="3570515" y="2557587"/>
            <a:ext cx="593924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Design: Remove the Cause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Marked drop-off bays 30–50 m from laybys at metro stops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Target taxi and limousine drop-off behaviour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Clear layby markings and signage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Review bus-station laybys separately (Ibn Battuta, Gold Souq)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Coordinate patrol timing with Dubai Police</a:t>
            </a:r>
          </a:p>
        </p:txBody>
      </p:sp>
      <p:pic>
        <p:nvPicPr>
          <p:cNvPr id="14" name="Picture 2" descr="Goals or business target infographic concept for slide presentation with  vertical stack shape balance 3 point list with flat style vector  illustration | Free Vector">
            <a:extLst>
              <a:ext uri="{FF2B5EF4-FFF2-40B4-BE49-F238E27FC236}">
                <a16:creationId xmlns:a16="http://schemas.microsoft.com/office/drawing/2014/main" id="{F53A5662-164D-F384-DCE6-369C865A36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AFAF8"/>
              </a:clrFrom>
              <a:clrTo>
                <a:srgbClr val="FAFA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3" r="45667" b="63688"/>
          <a:stretch/>
        </p:blipFill>
        <p:spPr bwMode="auto">
          <a:xfrm>
            <a:off x="182790" y="3860394"/>
            <a:ext cx="3239679" cy="1567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33663E-78BB-ACB3-ED9E-67DF8B5CF9DE}"/>
              </a:ext>
            </a:extLst>
          </p:cNvPr>
          <p:cNvSpPr txBox="1"/>
          <p:nvPr/>
        </p:nvSpPr>
        <p:spPr>
          <a:xfrm>
            <a:off x="3570515" y="4136334"/>
            <a:ext cx="5939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Measure: Build the KPI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Extend survey: multi-day, AM + PM, log blockage duration per case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Monthly join of AVL runtime × violation records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Track: obstructed arrivals per 100 peak buses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chemeClr val="accent1"/>
                </a:solidFill>
                <a:latin typeface="Dubai" panose="020B0503030403030204" pitchFamily="34" charset="-78"/>
                <a:cs typeface="Dubai" panose="020B0503030403030204" pitchFamily="34" charset="-78"/>
              </a:rPr>
              <a:t>Re-run this model to verify OTP recovery</a:t>
            </a:r>
          </a:p>
        </p:txBody>
      </p:sp>
    </p:spTree>
    <p:extLst>
      <p:ext uri="{BB962C8B-B14F-4D97-AF65-F5344CB8AC3E}">
        <p14:creationId xmlns:p14="http://schemas.microsoft.com/office/powerpoint/2010/main" val="8006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D697-C49F-2447-A7BD-ECB47C506D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97128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E032D-6B35-4621-179B-74197894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E664A19-B06E-3CDA-6271-D2AE9089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sz="2400" dirty="0">
                <a:latin typeface="Dubai" panose="020B0503030403030204" pitchFamily="34" charset="-78"/>
                <a:cs typeface="Dubai" panose="020B0503030403030204" pitchFamily="34" charset="-78"/>
              </a:rPr>
              <a:t>Impact on On-Time Performance</a:t>
            </a:r>
            <a:endParaRPr lang="en-AE" sz="2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2CA059-1C56-4EB1-6B90-91801F84A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19937"/>
              </p:ext>
            </p:extLst>
          </p:nvPr>
        </p:nvGraphicFramePr>
        <p:xfrm>
          <a:off x="494146" y="603316"/>
          <a:ext cx="8574439" cy="429353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85555">
                  <a:extLst>
                    <a:ext uri="{9D8B030D-6E8A-4147-A177-3AD203B41FA5}">
                      <a16:colId xmlns:a16="http://schemas.microsoft.com/office/drawing/2014/main" val="236223597"/>
                    </a:ext>
                  </a:extLst>
                </a:gridCol>
                <a:gridCol w="1404726">
                  <a:extLst>
                    <a:ext uri="{9D8B030D-6E8A-4147-A177-3AD203B41FA5}">
                      <a16:colId xmlns:a16="http://schemas.microsoft.com/office/drawing/2014/main" val="1775622447"/>
                    </a:ext>
                  </a:extLst>
                </a:gridCol>
                <a:gridCol w="4884158">
                  <a:extLst>
                    <a:ext uri="{9D8B030D-6E8A-4147-A177-3AD203B41FA5}">
                      <a16:colId xmlns:a16="http://schemas.microsoft.com/office/drawing/2014/main" val="402701859"/>
                    </a:ext>
                  </a:extLst>
                </a:gridCol>
              </a:tblGrid>
              <a:tr h="2567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Delay per Obstruction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Late Trips / Year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Effect on OTP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947880673"/>
                  </a:ext>
                </a:extLst>
              </a:tr>
              <a:tr h="608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15 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 430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−0.16 pp on affected peak trips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906149682"/>
                  </a:ext>
                </a:extLst>
              </a:tr>
              <a:tr h="9117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30 s — ops estimate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 780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−0.29 pp on affected peak trips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207692108"/>
                  </a:ext>
                </a:extLst>
              </a:tr>
              <a:tr h="6860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60 s — queue + re-approach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 1,900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−0.70 pp on affected peak trips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02589019"/>
                  </a:ext>
                </a:extLst>
              </a:tr>
              <a:tr h="7599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90 s — international evidence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 2,700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−1.00 pp — a full point off peak OTP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635003472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Where it bites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—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Damage lands on trips already 4–5 min behind — the peak, where 12.7% of events are already late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538957344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Compounding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—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 route 10/13A trip can be blocked 2–3 times; each case counted once (conservative)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51114281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D3B424A-A1C1-48D8-0EE5-32CBB2D30EC1}"/>
              </a:ext>
            </a:extLst>
          </p:cNvPr>
          <p:cNvSpPr/>
          <p:nvPr/>
        </p:nvSpPr>
        <p:spPr>
          <a:xfrm>
            <a:off x="494146" y="4896848"/>
            <a:ext cx="8574437" cy="728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The 11 locations alone: </a:t>
            </a:r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≈ 250–500 bus-hours of direct delay per year</a:t>
            </a:r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 </a:t>
            </a:r>
            <a:endParaRPr lang="en-AE" b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83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E032D-6B35-4621-179B-74197894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E664A19-B06E-3CDA-6271-D2AE9089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sz="2400" dirty="0">
                <a:latin typeface="Dubai" panose="020B0503030403030204" pitchFamily="34" charset="-78"/>
                <a:cs typeface="Dubai" panose="020B0503030403030204" pitchFamily="34" charset="-78"/>
              </a:rPr>
              <a:t>Network-Wide Scale: 912 At-Risk Stops</a:t>
            </a:r>
            <a:endParaRPr lang="en-AE" sz="2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2CA059-1C56-4EB1-6B90-91801F84A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19937"/>
              </p:ext>
            </p:extLst>
          </p:nvPr>
        </p:nvGraphicFramePr>
        <p:xfrm>
          <a:off x="494146" y="603316"/>
          <a:ext cx="8574439" cy="429353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85555">
                  <a:extLst>
                    <a:ext uri="{9D8B030D-6E8A-4147-A177-3AD203B41FA5}">
                      <a16:colId xmlns:a16="http://schemas.microsoft.com/office/drawing/2014/main" val="236223597"/>
                    </a:ext>
                  </a:extLst>
                </a:gridCol>
                <a:gridCol w="1404726">
                  <a:extLst>
                    <a:ext uri="{9D8B030D-6E8A-4147-A177-3AD203B41FA5}">
                      <a16:colId xmlns:a16="http://schemas.microsoft.com/office/drawing/2014/main" val="1775622447"/>
                    </a:ext>
                  </a:extLst>
                </a:gridCol>
                <a:gridCol w="4884158">
                  <a:extLst>
                    <a:ext uri="{9D8B030D-6E8A-4147-A177-3AD203B41FA5}">
                      <a16:colId xmlns:a16="http://schemas.microsoft.com/office/drawing/2014/main" val="402701859"/>
                    </a:ext>
                  </a:extLst>
                </a:gridCol>
              </a:tblGrid>
              <a:tr h="2567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Risk Tier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Stops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Annual Cases &amp; Impact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947880673"/>
                  </a:ext>
                </a:extLst>
              </a:tr>
              <a:tr h="608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High — profile-matched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112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≈182,000 cases/yr; 24% of peak arrivals; at the survey rate (2.9 per 100 buses)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906149682"/>
                  </a:ext>
                </a:extLst>
              </a:tr>
              <a:tr h="9117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Medium — next 400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400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≈134,000 cases/yr at 50% of the survey rate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207692108"/>
                  </a:ext>
                </a:extLst>
              </a:tr>
              <a:tr h="6860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Low — following 400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400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≈30,000 cases/yr at 25% of the survey rate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02589019"/>
                  </a:ext>
                </a:extLst>
              </a:tr>
              <a:tr h="7599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Total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912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≈346,000 cases/yr; ≈2,880 bus-hours; −0.35 to −0.85 pp peak OTP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635003472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Largest unsurveyed sites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—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Ibn Battuta, Union Metro, Mall of the Emirates, Gold Souq, Dubai Mall Metro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538957344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To validate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—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 1–2 week spot survey at ~20 High/Medium stops firms the tier rates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51114281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D3B424A-A1C1-48D8-0EE5-32CBB2D30EC1}"/>
              </a:ext>
            </a:extLst>
          </p:cNvPr>
          <p:cNvSpPr/>
          <p:nvPr/>
        </p:nvSpPr>
        <p:spPr>
          <a:xfrm>
            <a:off x="494146" y="4896848"/>
            <a:ext cx="8574437" cy="728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912 at-risk stops </a:t>
            </a:r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carry 76% of all peak bus arrivals</a:t>
            </a:r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 </a:t>
            </a:r>
            <a:endParaRPr lang="en-AE" b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83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E032D-6B35-4621-179B-74197894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2DF15-5071-454C-8687-89BB3304C35E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E664A19-B06E-3CDA-6271-D2AE9089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48" y="179387"/>
            <a:ext cx="8851194" cy="358775"/>
          </a:xfrm>
        </p:spPr>
        <p:txBody>
          <a:bodyPr/>
          <a:lstStyle/>
          <a:p>
            <a:r>
              <a:rPr lang="en-US" sz="2400" dirty="0">
                <a:latin typeface="Dubai" panose="020B0503030403030204" pitchFamily="34" charset="-78"/>
                <a:cs typeface="Dubai" panose="020B0503030403030204" pitchFamily="34" charset="-78"/>
              </a:rPr>
              <a:t>Benchmarking: How Global Cities Enforce</a:t>
            </a:r>
            <a:endParaRPr lang="en-AE" sz="2400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72CA059-1C56-4EB1-6B90-91801F84A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419937"/>
              </p:ext>
            </p:extLst>
          </p:nvPr>
        </p:nvGraphicFramePr>
        <p:xfrm>
          <a:off x="494146" y="603316"/>
          <a:ext cx="8574439" cy="4293533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85555">
                  <a:extLst>
                    <a:ext uri="{9D8B030D-6E8A-4147-A177-3AD203B41FA5}">
                      <a16:colId xmlns:a16="http://schemas.microsoft.com/office/drawing/2014/main" val="236223597"/>
                    </a:ext>
                  </a:extLst>
                </a:gridCol>
                <a:gridCol w="1404726">
                  <a:extLst>
                    <a:ext uri="{9D8B030D-6E8A-4147-A177-3AD203B41FA5}">
                      <a16:colId xmlns:a16="http://schemas.microsoft.com/office/drawing/2014/main" val="1775622447"/>
                    </a:ext>
                  </a:extLst>
                </a:gridCol>
                <a:gridCol w="4884158">
                  <a:extLst>
                    <a:ext uri="{9D8B030D-6E8A-4147-A177-3AD203B41FA5}">
                      <a16:colId xmlns:a16="http://schemas.microsoft.com/office/drawing/2014/main" val="402701859"/>
                    </a:ext>
                  </a:extLst>
                </a:gridCol>
              </a:tblGrid>
              <a:tr h="256789"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City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Penalty</a:t>
                      </a:r>
                      <a:endParaRPr lang="en-US" sz="9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Programme &amp; Reported Outcomes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947880673"/>
                  </a:ext>
                </a:extLst>
              </a:tr>
              <a:tr h="6081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New York — MTA ACE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$50–250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Bus-mounted cameras: ~5% faster buses, ~20% fewer collisions, ~30% fewer repeat violations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906149682"/>
                  </a:ext>
                </a:extLst>
              </a:tr>
              <a:tr h="91172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London — TfL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£160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24/7 CCTV-enforced stop clearways; near-universal kerb access at stops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207692108"/>
                  </a:ext>
                </a:extLst>
              </a:tr>
              <a:tr h="6860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Singapore — LTA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S$150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Camera-equipped buses since 2008; sustained bus-lane and stop compliance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02589019"/>
                  </a:ext>
                </a:extLst>
              </a:tr>
              <a:tr h="7599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Sydney — TfNSW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A$390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Deterrence driven by penalty level</a:t>
                      </a: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3635003472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Dubai today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AED 500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Manual patrols only; 60 cases in 3 hours signals low deterrence</a:t>
                      </a:r>
                      <a:endParaRPr lang="en-US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538957344"/>
                  </a:ext>
                </a:extLst>
              </a:tr>
              <a:tr h="53539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u="none" strike="noStrike" dirty="0">
                          <a:solidFill>
                            <a:schemeClr val="bg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The gap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—</a:t>
                      </a:r>
                      <a:endParaRPr lang="en-AE" sz="1100" b="1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 anchor="ctr"/>
                </a:tc>
                <a:tc>
                  <a:txBody>
                    <a:bodyPr/>
                    <a:lstStyle/>
                    <a:p>
                      <a:pPr marL="171450" indent="-171450" algn="l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dirty="0">
                          <a:solidFill>
                            <a:schemeClr val="accent1"/>
                          </a:solidFill>
                          <a:effectLst/>
                          <a:latin typeface="Dubai" panose="020B0503030403030204" pitchFamily="34" charset="-78"/>
                          <a:cs typeface="Dubai" panose="020B0503030403030204" pitchFamily="34" charset="-78"/>
                        </a:rPr>
                        <a:t>Fine is mid-range globally; missing piece is automated, continuous enforcement — NYC model fits corridors 10 / 13A / C01</a:t>
                      </a:r>
                      <a:endParaRPr lang="en-AE" sz="1100" b="0" i="0" u="none" strike="noStrike" dirty="0">
                        <a:solidFill>
                          <a:schemeClr val="accent1"/>
                        </a:solidFill>
                        <a:effectLst/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marL="14778" marR="1232" marT="1232" marB="0"/>
                </a:tc>
                <a:extLst>
                  <a:ext uri="{0D108BD9-81ED-4DB2-BD59-A6C34878D82A}">
                    <a16:rowId xmlns:a16="http://schemas.microsoft.com/office/drawing/2014/main" val="151114281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5D3B424A-A1C1-48D8-0EE5-32CBB2D30EC1}"/>
              </a:ext>
            </a:extLst>
          </p:cNvPr>
          <p:cNvSpPr/>
          <p:nvPr/>
        </p:nvSpPr>
        <p:spPr>
          <a:xfrm>
            <a:off x="494146" y="4896848"/>
            <a:ext cx="8574437" cy="728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The gap is not the fine — </a:t>
            </a:r>
            <a:r>
              <a:rPr lang="en-US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it is automated, continuous enforcement</a:t>
            </a:r>
            <a:r>
              <a:rPr lang="en-US" b="1" dirty="0">
                <a:latin typeface="Dubai" panose="020B0503030403030204" pitchFamily="34" charset="-78"/>
                <a:cs typeface="Dubai" panose="020B0503030403030204" pitchFamily="34" charset="-78"/>
              </a:rPr>
              <a:t xml:space="preserve"> </a:t>
            </a:r>
            <a:endParaRPr lang="en-AE" b="1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9838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93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ZEjfHTTRW7Eq1_LyZbrQ"/>
</p:tagLst>
</file>

<file path=ppt/theme/theme1.xml><?xml version="1.0" encoding="utf-8"?>
<a:theme xmlns:a="http://schemas.openxmlformats.org/drawingml/2006/main" name="RTA_PPT template_01_English">
  <a:themeElements>
    <a:clrScheme name="RTA">
      <a:dk1>
        <a:srgbClr val="025EE1"/>
      </a:dk1>
      <a:lt1>
        <a:sysClr val="window" lastClr="FFFFFF"/>
      </a:lt1>
      <a:dk2>
        <a:srgbClr val="EE0032"/>
      </a:dk2>
      <a:lt2>
        <a:srgbClr val="00B0B9"/>
      </a:lt2>
      <a:accent1>
        <a:srgbClr val="171C8F"/>
      </a:accent1>
      <a:accent2>
        <a:srgbClr val="8031C8"/>
      </a:accent2>
      <a:accent3>
        <a:srgbClr val="D000AE"/>
      </a:accent3>
      <a:accent4>
        <a:srgbClr val="FF7100"/>
      </a:accent4>
      <a:accent5>
        <a:srgbClr val="FFB800"/>
      </a:accent5>
      <a:accent6>
        <a:srgbClr val="00B154"/>
      </a:accent6>
      <a:hlink>
        <a:srgbClr val="A2A622"/>
      </a:hlink>
      <a:folHlink>
        <a:srgbClr val="53565A"/>
      </a:folHlink>
    </a:clrScheme>
    <a:fontScheme name="RTA Office Fonts Group">
      <a:majorFont>
        <a:latin typeface="RTA Office"/>
        <a:ea typeface=""/>
        <a:cs typeface="RTA Office"/>
      </a:majorFont>
      <a:minorFont>
        <a:latin typeface="RTA Office"/>
        <a:ea typeface=""/>
        <a:cs typeface="RTA 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CBC4A5-DEF0-4E77-8428-29C856CEC80F}">
  <we:reference id="wa200001625" version="1.0.0.7" store="en-US" storeType="OMEX"/>
  <we:alternateReferences>
    <we:reference id="WA200001625" version="1.0.0.7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161D701B3BEA41956EAFF9E8EDEB5B" ma:contentTypeVersion="2" ma:contentTypeDescription="Create a new document." ma:contentTypeScope="" ma:versionID="6aaa772ea27de6da95dda404469ba0b0">
  <xsd:schema xmlns:xsd="http://www.w3.org/2001/XMLSchema" xmlns:xs="http://www.w3.org/2001/XMLSchema" xmlns:p="http://schemas.microsoft.com/office/2006/metadata/properties" xmlns:ns2="9094DF96-ABBA-4640-851E-8AED0071634F" xmlns:ns3="c6831a62-a235-4a03-9843-17fdc4ef993b" targetNamespace="http://schemas.microsoft.com/office/2006/metadata/properties" ma:root="true" ma:fieldsID="91fdce176fa1fefa1a3467eef868dd14" ns2:_="" ns3:_="">
    <xsd:import namespace="9094DF96-ABBA-4640-851E-8AED0071634F"/>
    <xsd:import namespace="c6831a62-a235-4a03-9843-17fdc4ef993b"/>
    <xsd:element name="properties">
      <xsd:complexType>
        <xsd:sequence>
          <xsd:element name="documentManagement">
            <xsd:complexType>
              <xsd:all>
                <xsd:element ref="ns2:TitleAR"/>
                <xsd:element ref="ns2:Description0" minOccurs="0"/>
                <xsd:element ref="ns2:DescriptionAR" minOccurs="0"/>
                <xsd:element ref="ns2:DocType"/>
                <xsd:element ref="ns2:ShowonEnglish" minOccurs="0"/>
                <xsd:element ref="ns2:ShowonArabic" minOccurs="0"/>
                <xsd:element ref="ns3:SharedWithUsers" minOccurs="0"/>
                <xsd:element ref="ns2:DocType_x003a_TitleAR" minOccurs="0"/>
                <xsd:element ref="ns2:DocType_x003a_ActiveImage" minOccurs="0"/>
                <xsd:element ref="ns2:DocType_x003a_InactiveImag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4DF96-ABBA-4640-851E-8AED0071634F" elementFormDefault="qualified">
    <xsd:import namespace="http://schemas.microsoft.com/office/2006/documentManagement/types"/>
    <xsd:import namespace="http://schemas.microsoft.com/office/infopath/2007/PartnerControls"/>
    <xsd:element name="TitleAR" ma:index="2" ma:displayName="Title Arabic" ma:internalName="TitleAR" ma:readOnly="false">
      <xsd:simpleType>
        <xsd:restriction base="dms:Text">
          <xsd:maxLength value="255"/>
        </xsd:restriction>
      </xsd:simpleType>
    </xsd:element>
    <xsd:element name="Description0" ma:index="3" nillable="true" ma:displayName="Description" ma:internalName="Description0">
      <xsd:simpleType>
        <xsd:restriction base="dms:Note">
          <xsd:maxLength value="255"/>
        </xsd:restriction>
      </xsd:simpleType>
    </xsd:element>
    <xsd:element name="DescriptionAR" ma:index="4" nillable="true" ma:displayName="Description Arabic" ma:internalName="DescriptionAR">
      <xsd:simpleType>
        <xsd:restriction base="dms:Note">
          <xsd:maxLength value="255"/>
        </xsd:restriction>
      </xsd:simpleType>
    </xsd:element>
    <xsd:element name="DocType" ma:index="5" ma:displayName="Document Type" ma:list="{DFCDF8C9-8F44-4597-9131-2F7B8F1B3F64}" ma:internalName="DocType" ma:showField="Title">
      <xsd:simpleType>
        <xsd:restriction base="dms:Lookup"/>
      </xsd:simpleType>
    </xsd:element>
    <xsd:element name="ShowonEnglish" ma:index="6" nillable="true" ma:displayName="ShowonEnglish" ma:default="0" ma:internalName="ShowonEnglish">
      <xsd:simpleType>
        <xsd:restriction base="dms:Boolean"/>
      </xsd:simpleType>
    </xsd:element>
    <xsd:element name="ShowonArabic" ma:index="7" nillable="true" ma:displayName="ShowonArabic" ma:default="0" ma:internalName="ShowonArabic">
      <xsd:simpleType>
        <xsd:restriction base="dms:Boolean"/>
      </xsd:simpleType>
    </xsd:element>
    <xsd:element name="DocType_x003a_TitleAR" ma:index="15" nillable="true" ma:displayName="DocType:TitleAR" ma:list="{DFCDF8C9-8F44-4597-9131-2F7B8F1B3F64}" ma:internalName="DocType_x003a_TitleAR" ma:readOnly="true" ma:showField="TitleAR" ma:web="">
      <xsd:simpleType>
        <xsd:restriction base="dms:Lookup"/>
      </xsd:simpleType>
    </xsd:element>
    <xsd:element name="DocType_x003a_ActiveImage" ma:index="16" nillable="true" ma:displayName="DocType:ActiveImage" ma:list="{DFCDF8C9-8F44-4597-9131-2F7B8F1B3F64}" ma:internalName="DocType_x003a_ActiveImage" ma:readOnly="true" ma:showField="ActiveImage" ma:web="">
      <xsd:simpleType>
        <xsd:restriction base="dms:Lookup"/>
      </xsd:simpleType>
    </xsd:element>
    <xsd:element name="DocType_x003a_InactiveImage" ma:index="17" nillable="true" ma:displayName="DocType:InactiveImage" ma:list="{DFCDF8C9-8F44-4597-9131-2F7B8F1B3F64}" ma:internalName="DocType_x003a_InactiveImage" ma:readOnly="true" ma:showField="InactiveImage" ma:web="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831a62-a235-4a03-9843-17fdc4ef993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axOccurs="1" ma:index="1" ma:displayName="Title English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tionAR xmlns="9094DF96-ABBA-4640-851E-8AED0071634F" xsi:nil="true"/>
    <DocType xmlns="9094DF96-ABBA-4640-851E-8AED0071634F">6</DocType>
    <Description0 xmlns="9094DF96-ABBA-4640-851E-8AED0071634F" xsi:nil="true"/>
    <ShowonArabic xmlns="9094DF96-ABBA-4640-851E-8AED0071634F">true</ShowonArabic>
    <ShowonEnglish xmlns="9094DF96-ABBA-4640-851E-8AED0071634F">true</ShowonEnglish>
    <TitleAR xmlns="9094DF96-ABBA-4640-851E-8AED0071634F">PTA</TitleAR>
  </documentManagement>
</p:properties>
</file>

<file path=customXml/item4.xml><?xml version="1.0" encoding="utf-8"?>
<sisl xmlns:xsd="http://www.w3.org/2001/XMLSchema" xmlns:xsi="http://www.w3.org/2001/XMLSchema-instance" xmlns="http://www.boldonjames.com/2008/01/sie/internal/label" sislVersion="0" policy="cbbff033-f995-442f-901f-e7becb3f68ec" origin="userSelected">
  <element uid="190fed2a-1b96-477b-90dd-ce71f3ed3a45" value=""/>
</sisl>
</file>

<file path=customXml/itemProps1.xml><?xml version="1.0" encoding="utf-8"?>
<ds:datastoreItem xmlns:ds="http://schemas.openxmlformats.org/officeDocument/2006/customXml" ds:itemID="{F8B3B65F-617D-4BB9-8667-CB14792F5A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A6A3F9-D030-4174-B5A8-E4A9B74C015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094DF96-ABBA-4640-851E-8AED0071634F"/>
    <ds:schemaRef ds:uri="c6831a62-a235-4a03-9843-17fdc4ef993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6CD6C6-D21A-4A68-AAD3-9542EA835EAF}">
  <ds:schemaRefs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c6831a62-a235-4a03-9843-17fdc4ef993b"/>
    <ds:schemaRef ds:uri="9094DF96-ABBA-4640-851E-8AED0071634F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25C5804F-F5C6-45FB-A2BF-F821B2EAF162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201365</TotalTime>
  <Words>4349</Words>
  <Application>Microsoft Office PowerPoint</Application>
  <PresentationFormat>Custom</PresentationFormat>
  <Paragraphs>971</Paragraphs>
  <Slides>54</Slides>
  <Notes>54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Arial</vt:lpstr>
      <vt:lpstr>Calibri</vt:lpstr>
      <vt:lpstr>Calibri Light</vt:lpstr>
      <vt:lpstr>Dubai</vt:lpstr>
      <vt:lpstr>GeosansLight</vt:lpstr>
      <vt:lpstr>RTA Office</vt:lpstr>
      <vt:lpstr>Wingdings</vt:lpstr>
      <vt:lpstr>RTA_PPT template_01_English</vt:lpstr>
      <vt:lpstr>think-cell Slide</vt:lpstr>
      <vt:lpstr>Bus Depot Action Plan</vt:lpstr>
      <vt:lpstr>Executive Summary</vt:lpstr>
      <vt:lpstr>Existing Situation Analysis</vt:lpstr>
      <vt:lpstr>Facts &amp; Figures</vt:lpstr>
      <vt:lpstr>KPI Performance (2025-YTD)</vt:lpstr>
      <vt:lpstr>Maturity of Bus Depots (Framework- Where do we stand?)</vt:lpstr>
      <vt:lpstr>Visit Results: Observations</vt:lpstr>
      <vt:lpstr>SWOT Analysis</vt:lpstr>
      <vt:lpstr>TOWS Analysis</vt:lpstr>
      <vt:lpstr>Summary of Existing Situation Analysis</vt:lpstr>
      <vt:lpstr>Our Plan</vt:lpstr>
      <vt:lpstr>Focus Areas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People Management</vt:lpstr>
      <vt:lpstr>PowerPoint Presentation</vt:lpstr>
      <vt:lpstr>PowerPoint Presentation</vt:lpstr>
      <vt:lpstr>PowerPoint Presentation</vt:lpstr>
      <vt:lpstr>Bus Service Efficiency</vt:lpstr>
      <vt:lpstr>Bus service standard upgrade</vt:lpstr>
      <vt:lpstr>02: Bus Service Efficiency</vt:lpstr>
      <vt:lpstr>PowerPoint Presentation</vt:lpstr>
      <vt:lpstr>Operational Transformation</vt:lpstr>
      <vt:lpstr>02: Operational Transformation</vt:lpstr>
      <vt:lpstr>02: Operational Transformation</vt:lpstr>
      <vt:lpstr>PowerPoint Presentation</vt:lpstr>
      <vt:lpstr>Financial Performance</vt:lpstr>
      <vt:lpstr>04: Financial Performance</vt:lpstr>
      <vt:lpstr>PowerPoint Presentation</vt:lpstr>
      <vt:lpstr>HSE</vt:lpstr>
      <vt:lpstr>5S Implementation Plan</vt:lpstr>
      <vt:lpstr>Safety Enhancement</vt:lpstr>
      <vt:lpstr>PowerPoint Presentation</vt:lpstr>
      <vt:lpstr>New Bus Preparedness</vt:lpstr>
      <vt:lpstr>05: New Bus Preparedness</vt:lpstr>
      <vt:lpstr>PowerPoint Presentation</vt:lpstr>
      <vt:lpstr>Digital Transformation</vt:lpstr>
      <vt:lpstr>Digital Transformation</vt:lpstr>
      <vt:lpstr>PowerPoint Presentation</vt:lpstr>
      <vt:lpstr>Application of Data</vt:lpstr>
      <vt:lpstr>Application of Data</vt:lpstr>
      <vt:lpstr>PowerPoint Presentation</vt:lpstr>
      <vt:lpstr>Governance &amp; Compliance</vt:lpstr>
      <vt:lpstr>08: Governance and Compliance</vt:lpstr>
      <vt:lpstr>PowerPoint Presentation</vt:lpstr>
      <vt:lpstr>Thank You</vt:lpstr>
      <vt:lpstr>Maturity of Bus Depots (Operational Maturity Framework)</vt:lpstr>
      <vt:lpstr>PowerPoint Presentation</vt:lpstr>
    </vt:vector>
  </TitlesOfParts>
  <Company>RTA PTA CEO Office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PTA</dc:title>
  <dc:creator>Christy Ann Cheriyan Cheriyan Puthenchirayil Varughese</dc:creator>
  <cp:lastModifiedBy>Christy Ann Cheriyan Cheriyan Puthenchirayil Varughese</cp:lastModifiedBy>
  <cp:revision>1002</cp:revision>
  <dcterms:created xsi:type="dcterms:W3CDTF">2016-09-25T08:55:13Z</dcterms:created>
  <dcterms:modified xsi:type="dcterms:W3CDTF">2026-02-17T11:15:18Z</dcterms:modified>
  <cp:version>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0x0101008D161D701B3BEA41956EAFF9E8EDEB5B</vt:lpwstr>
  </property>
  <property fmtid="{D5CDD505-2E9C-101B-9397-08002B2CF9AE}" pid="3" name="docIndexRef">
    <vt:lpwstr>d9e2a004-a2d9-48db-935e-f16b17746fe4</vt:lpwstr>
  </property>
  <property fmtid="{D5CDD505-2E9C-101B-9397-08002B2CF9AE}" pid="4" name="bjClsUserRVM">
    <vt:lpwstr>[]</vt:lpwstr>
  </property>
  <property fmtid="{D5CDD505-2E9C-101B-9397-08002B2CF9AE}" pid="5" name="bjSaver">
    <vt:lpwstr>NWsVFr9b644zT/gpRijHCxJLBsQiLdEN</vt:lpwstr>
  </property>
  <property fmtid="{D5CDD505-2E9C-101B-9397-08002B2CF9AE}" pid="6" name="bjDocumentLabelXML">
    <vt:lpwstr>&lt;?xml version="1.0" encoding="us-ascii"?&gt;&lt;sisl xmlns:xsd="http://www.w3.org/2001/XMLSchema" xmlns:xsi="http://www.w3.org/2001/XMLSchema-instance" sislVersion="0" policy="cbbff033-f995-442f-901f-e7becb3f68ec" origin="userSelected" xmlns="http://www.boldonj</vt:lpwstr>
  </property>
  <property fmtid="{D5CDD505-2E9C-101B-9397-08002B2CF9AE}" pid="7" name="bjDocumentLabelXML-0">
    <vt:lpwstr>ames.com/2008/01/sie/internal/label"&gt;&lt;element uid="190fed2a-1b96-477b-90dd-ce71f3ed3a45" value="" /&gt;&lt;/sisl&gt;</vt:lpwstr>
  </property>
  <property fmtid="{D5CDD505-2E9C-101B-9397-08002B2CF9AE}" pid="8" name="bjDocumentSecurityLabel">
    <vt:lpwstr>Confidential</vt:lpwstr>
  </property>
</Properties>
</file>